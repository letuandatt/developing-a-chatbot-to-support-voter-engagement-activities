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312" r:id="rId8"/>
    <p:sldId id="279" r:id="rId9"/>
    <p:sldId id="264" r:id="rId10"/>
    <p:sldId id="282" r:id="rId11"/>
    <p:sldId id="283" r:id="rId12"/>
    <p:sldId id="320" r:id="rId13"/>
    <p:sldId id="263" r:id="rId14"/>
    <p:sldId id="268" r:id="rId15"/>
    <p:sldId id="322" r:id="rId16"/>
    <p:sldId id="276" r:id="rId17"/>
    <p:sldId id="277" r:id="rId18"/>
    <p:sldId id="324" r:id="rId19"/>
    <p:sldId id="278" r:id="rId20"/>
    <p:sldId id="297" r:id="rId21"/>
    <p:sldId id="348" r:id="rId22"/>
    <p:sldId id="347" r:id="rId23"/>
    <p:sldId id="357" r:id="rId24"/>
    <p:sldId id="354" r:id="rId25"/>
    <p:sldId id="349" r:id="rId26"/>
    <p:sldId id="350" r:id="rId27"/>
    <p:sldId id="353" r:id="rId28"/>
    <p:sldId id="358" r:id="rId29"/>
    <p:sldId id="356" r:id="rId30"/>
    <p:sldId id="355" r:id="rId31"/>
    <p:sldId id="307" r:id="rId32"/>
    <p:sldId id="274" r:id="rId33"/>
  </p:sldIdLst>
  <p:sldSz cx="12192000" cy="6858000"/>
  <p:notesSz cx="6858000" cy="9144000"/>
  <p:embeddedFontLst>
    <p:embeddedFont>
      <p:font typeface="SimSun" panose="02010600030101010101" pitchFamily="2" charset="-122"/>
      <p:regular r:id="rId37"/>
    </p:embeddedFont>
    <p:embeddedFont>
      <p:font typeface="K2D" panose="00000500000000000000"/>
      <p:regular r:id="rId38"/>
    </p:embeddedFont>
    <p:embeddedFont>
      <p:font typeface="Readex Pro"/>
      <p:regular r:id="rId39"/>
    </p:embeddedFont>
    <p:embeddedFont>
      <p:font typeface="K2D" panose="00000500000000000000" charset="0"/>
      <p:regular r:id="rId40"/>
    </p:embeddedFont>
    <p:embeddedFont>
      <p:font typeface="Readex Pro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2" name="Google Shape;55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7" name="Google Shape;56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2" name="Google Shape;57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7" name="Google Shape;57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7" name="Google Shape;57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3f212c49e7_1_2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33f212c49e7_1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3f212c49e7_1_2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33f212c49e7_1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3f212c49e7_1_2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33f212c49e7_1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8" name="Google Shape;59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Chỉ thị là v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ă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 bản do Thủ t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ớng hoặc cơ quan nhà n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ớc có thẩm quyền ban hành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ể chỉ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ạo,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iều hành việc thực hiện pháp luật và nhiệm vụ cụ thể. Nó mang tính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ôn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ốc,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ịnh h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ớng nhiều hơn là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ặt ra quy phạm mới. Em chọn Chỉ thị vì dung l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ợng vừa phải, cấu trúc r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õ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ràng, phù hợp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ể kiểm chứng pipeline trong phạm vi khóa luận</a:t>
            </a: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2" name="Google Shape;57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FFn: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ây là chỉ số quan trọng nhất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ể chống lại hiện t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ợng "ảo giác". Nó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l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ờng mức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ộ mà câu trả lời do LLM tạo ra hoàn toàn bám sát và có thể suy ra từ các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oạn ngữ cảnh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ã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cung cấp. Một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iểm</a:t>
            </a: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số Faithfulness cao cho thấy hệ thống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ang trả lời dựa trên bằng chứng xác thực, chứ không bịa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ặt thông tin.</a:t>
            </a:r>
            <a:b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Context Precision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l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ờng xem các ngữ cảnh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truy xuất có</a:t>
            </a: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chứa thông tin thực sự liên quan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ến câu hỏi hay không (giảm thiểu "nhiễu"). </a:t>
            </a:r>
            <a:b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Trong khi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ó, Context Recall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l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ờng xem liệu tất cả các thông tin cần thiết</a:t>
            </a: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ể trả lời câu hỏi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ã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truy xuất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ầy 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ủ hay ch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a.</a:t>
            </a:r>
            <a:endParaRPr lang="en-US" altLang="en-US"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2" name="Google Shape;57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f212c49e7_2_5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33f212c49e7_2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2" name="Google Shape;662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3" name="Google Shape;673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1F5CAA"/>
        </a:solidFill>
        <a:effectLst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493144" y="2008231"/>
            <a:ext cx="11205713" cy="185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K2D" panose="00000500000000000000"/>
              <a:buNone/>
              <a:defRPr sz="4400"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type="subTitle" idx="1"/>
          </p:nvPr>
        </p:nvSpPr>
        <p:spPr>
          <a:xfrm>
            <a:off x="493144" y="3863542"/>
            <a:ext cx="11205713" cy="103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4" name="Google Shape;14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9"/>
          <p:cNvSpPr txBox="1"/>
          <p:nvPr>
            <p:ph type="body" idx="2"/>
          </p:nvPr>
        </p:nvSpPr>
        <p:spPr>
          <a:xfrm>
            <a:off x="493144" y="4924425"/>
            <a:ext cx="11205713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9"/>
          <p:cNvSpPr/>
          <p:nvPr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7" name="Google Shape;17;p19"/>
          <p:cNvGrpSpPr/>
          <p:nvPr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18" name="Google Shape;18;p19"/>
            <p:cNvSpPr/>
            <p:nvPr/>
          </p:nvSpPr>
          <p:spPr>
            <a:xfrm>
              <a:off x="9886950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19;p19"/>
            <p:cNvSpPr/>
            <p:nvPr/>
          </p:nvSpPr>
          <p:spPr>
            <a:xfrm>
              <a:off x="10006013" y="559668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>
              <a:off x="10006013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1" name="Google Shape;21;p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9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3" name="Google Shape;23;p19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4" name="Google Shape;24;p19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5" name="Google Shape;25;p19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chemeClr val="lt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6" name="Google Shape;26;p1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7" name="Google Shape;27;p19"/>
          <p:cNvSpPr txBox="1"/>
          <p:nvPr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Google Shape;28;p19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logo">
  <p:cSld name="Title and Content with log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838200" y="1520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" name="Google Shape;33;p20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7" name="Google Shape;37;p20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Google Shape;38;p20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9" name="Google Shape;39;p20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0" name="Google Shape;40;p20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1" name="Google Shape;41;p2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2" name="Google Shape;42;p2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3" name="Google Shape;43;p20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4" name="Google Shape;44;p2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_white">
  <p:cSld name="Title Slide_white">
    <p:bg>
      <p:bgPr>
        <a:solidFill>
          <a:schemeClr val="lt1"/>
        </a:soli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ctrTitle"/>
          </p:nvPr>
        </p:nvSpPr>
        <p:spPr>
          <a:xfrm>
            <a:off x="493144" y="2008231"/>
            <a:ext cx="11205713" cy="185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  <a:defRPr sz="44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type="subTitle" idx="1"/>
          </p:nvPr>
        </p:nvSpPr>
        <p:spPr>
          <a:xfrm>
            <a:off x="493144" y="3863542"/>
            <a:ext cx="11205713" cy="103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  <a:defRPr sz="3200">
                <a:solidFill>
                  <a:srgbClr val="0070C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50" name="Google Shape;50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1"/>
          <p:cNvSpPr txBox="1"/>
          <p:nvPr>
            <p:ph type="body" idx="2"/>
          </p:nvPr>
        </p:nvSpPr>
        <p:spPr>
          <a:xfrm>
            <a:off x="493144" y="4924425"/>
            <a:ext cx="11205713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FEF"/>
              </a:buClr>
              <a:buSzPts val="2000"/>
              <a:buNone/>
              <a:defRPr sz="2000" b="0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1"/>
          <p:cNvSpPr/>
          <p:nvPr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53" name="Google Shape;53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1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5" name="Google Shape;55;p21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6" name="Google Shape;56;p21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7" name="Google Shape;57;p2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58" name="Google Shape;58;p21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59" name="Google Shape;59;p21"/>
          <p:cNvSpPr txBox="1"/>
          <p:nvPr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0" name="Google Shape;60;p2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1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lue Background">
  <p:cSld name="Title Blue Background">
    <p:bg>
      <p:bgPr>
        <a:solidFill>
          <a:srgbClr val="00B0F0"/>
        </a:solidFill>
        <a:effectLst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ctrTitle"/>
          </p:nvPr>
        </p:nvSpPr>
        <p:spPr>
          <a:xfrm>
            <a:off x="1443567" y="1773238"/>
            <a:ext cx="1002956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K2D" panose="00000500000000000000"/>
              <a:buNone/>
              <a:defRPr sz="4000"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type="subTitle" idx="1"/>
          </p:nvPr>
        </p:nvSpPr>
        <p:spPr>
          <a:xfrm>
            <a:off x="1443566" y="3428999"/>
            <a:ext cx="10029565" cy="7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6" name="Google Shape;66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22"/>
          <p:cNvGrpSpPr/>
          <p:nvPr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68" name="Google Shape;68;p22"/>
            <p:cNvSpPr/>
            <p:nvPr/>
          </p:nvSpPr>
          <p:spPr>
            <a:xfrm>
              <a:off x="9886950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" name="Google Shape;69;p22"/>
            <p:cNvSpPr/>
            <p:nvPr/>
          </p:nvSpPr>
          <p:spPr>
            <a:xfrm>
              <a:off x="10006013" y="559668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" name="Google Shape;70;p22"/>
            <p:cNvSpPr/>
            <p:nvPr/>
          </p:nvSpPr>
          <p:spPr>
            <a:xfrm>
              <a:off x="10006013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71" name="Google Shape;71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2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73" name="Google Shape;73;p22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22"/>
          <p:cNvSpPr/>
          <p:nvPr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75" name="Google Shape;75;p22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76" name="Google Shape;76;p22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7" name="Google Shape;77;p2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chemeClr val="lt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78" name="Google Shape;78;p2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79" name="Google Shape;79;p22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22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hite Pure">
  <p:cSld name="Title White Pur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ctrTitle"/>
          </p:nvPr>
        </p:nvSpPr>
        <p:spPr>
          <a:xfrm>
            <a:off x="1443567" y="1773238"/>
            <a:ext cx="1002956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4000"/>
              <a:buFont typeface="K2D" panose="00000500000000000000"/>
              <a:buNone/>
              <a:defRPr sz="40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type="subTitle" idx="1"/>
          </p:nvPr>
        </p:nvSpPr>
        <p:spPr>
          <a:xfrm>
            <a:off x="1443566" y="3428999"/>
            <a:ext cx="10029565" cy="7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FEF"/>
              </a:buClr>
              <a:buSzPts val="3200"/>
              <a:buNone/>
              <a:defRPr sz="3200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5" name="Google Shape;85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3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88" name="Google Shape;88;p23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23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90" name="Google Shape;90;p23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91" name="Google Shape;91;p23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2" name="Google Shape;92;p2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93" name="Google Shape;93;p23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94" name="Google Shape;94;p23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3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- Placeholder Right">
  <p:cSld name="Title Left - Placeholder Righ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4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4"/>
          <p:cNvSpPr txBox="1"/>
          <p:nvPr>
            <p:ph type="ctrTitle"/>
          </p:nvPr>
        </p:nvSpPr>
        <p:spPr>
          <a:xfrm>
            <a:off x="514350" y="1125114"/>
            <a:ext cx="446722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type="subTitle" idx="1"/>
          </p:nvPr>
        </p:nvSpPr>
        <p:spPr>
          <a:xfrm>
            <a:off x="514348" y="2885650"/>
            <a:ext cx="4467229" cy="2244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24"/>
          <p:cNvSpPr txBox="1"/>
          <p:nvPr>
            <p:ph type="body" idx="2"/>
          </p:nvPr>
        </p:nvSpPr>
        <p:spPr>
          <a:xfrm>
            <a:off x="5667375" y="1125114"/>
            <a:ext cx="5381626" cy="395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4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05" name="Google Shape;105;p24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24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07" name="Google Shape;107;p24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08" name="Google Shape;108;p24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09" name="Google Shape;109;p24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10" name="Google Shape;110;p2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11" name="Google Shape;111;p24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2" name="Google Shape;112;p2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4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Left">
  <p:cSld name="1_Picture Lef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type="ctrTitle"/>
          </p:nvPr>
        </p:nvSpPr>
        <p:spPr>
          <a:xfrm>
            <a:off x="5575300" y="769938"/>
            <a:ext cx="595947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type="subTitle" idx="1"/>
          </p:nvPr>
        </p:nvSpPr>
        <p:spPr>
          <a:xfrm>
            <a:off x="5575298" y="2530474"/>
            <a:ext cx="5959480" cy="355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5"/>
          <p:cNvSpPr/>
          <p:nvPr>
            <p:ph type="pic" idx="2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121" name="Google Shape;121;p25"/>
          <p:cNvSpPr/>
          <p:nvPr>
            <p:ph type="pic" idx="3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122" name="Google Shape;122;p25"/>
          <p:cNvSpPr/>
          <p:nvPr>
            <p:ph type="pic" idx="4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noFill/>
          <a:ln>
            <a:noFill/>
          </a:ln>
        </p:spPr>
      </p:sp>
      <p:pic>
        <p:nvPicPr>
          <p:cNvPr id="123" name="Google Shape;123;p2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28" name="Google Shape;128;p25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9" name="Google Shape;129;p25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30" name="Google Shape;130;p25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31" name="Google Shape;131;p25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>
  <p:cSld name="Galler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>
            <p:ph type="pic" idx="2"/>
          </p:nvPr>
        </p:nvSpPr>
        <p:spPr>
          <a:xfrm>
            <a:off x="741487" y="465301"/>
            <a:ext cx="3657600" cy="2743200"/>
          </a:xfrm>
          <a:prstGeom prst="rect">
            <a:avLst/>
          </a:prstGeom>
          <a:noFill/>
          <a:ln w="5715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p26"/>
          <p:cNvSpPr/>
          <p:nvPr>
            <p:ph type="pic" idx="3"/>
          </p:nvPr>
        </p:nvSpPr>
        <p:spPr>
          <a:xfrm>
            <a:off x="4678998" y="465301"/>
            <a:ext cx="3571623" cy="2743200"/>
          </a:xfrm>
          <a:prstGeom prst="rect">
            <a:avLst/>
          </a:prstGeom>
          <a:noFill/>
          <a:ln w="5715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8" name="Google Shape;138;p26"/>
          <p:cNvSpPr/>
          <p:nvPr>
            <p:ph type="pic" idx="4"/>
          </p:nvPr>
        </p:nvSpPr>
        <p:spPr>
          <a:xfrm>
            <a:off x="8530533" y="474155"/>
            <a:ext cx="2743200" cy="2743200"/>
          </a:xfrm>
          <a:prstGeom prst="rect">
            <a:avLst/>
          </a:prstGeom>
          <a:noFill/>
          <a:ln w="5715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9" name="Google Shape;139;p26"/>
          <p:cNvSpPr/>
          <p:nvPr>
            <p:ph type="pic" idx="5"/>
          </p:nvPr>
        </p:nvSpPr>
        <p:spPr>
          <a:xfrm>
            <a:off x="7484734" y="3450874"/>
            <a:ext cx="3788999" cy="2743200"/>
          </a:xfrm>
          <a:prstGeom prst="rect">
            <a:avLst/>
          </a:prstGeom>
          <a:noFill/>
          <a:ln w="5715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" name="Google Shape;140;p26"/>
          <p:cNvSpPr/>
          <p:nvPr>
            <p:ph type="pic" idx="6"/>
          </p:nvPr>
        </p:nvSpPr>
        <p:spPr>
          <a:xfrm>
            <a:off x="741485" y="3450874"/>
            <a:ext cx="6477000" cy="2743200"/>
          </a:xfrm>
          <a:prstGeom prst="rect">
            <a:avLst/>
          </a:prstGeom>
          <a:noFill/>
          <a:ln w="5715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sp>
      <p:pic>
        <p:nvPicPr>
          <p:cNvPr id="141" name="Google Shape;141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7" name="Google Shape;147;p2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49" name="Google Shape;149;p26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book 2">
  <p:cSld name="Macbook 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27"/>
          <p:cNvGrpSpPr/>
          <p:nvPr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56" name="Google Shape;156;p27"/>
            <p:cNvSpPr/>
            <p:nvPr/>
          </p:nvSpPr>
          <p:spPr>
            <a:xfrm>
              <a:off x="3821113" y="30163"/>
              <a:ext cx="9663113" cy="6823075"/>
            </a:xfrm>
            <a:custGeom>
              <a:avLst/>
              <a:gdLst/>
              <a:ahLst/>
              <a:cxnLst/>
              <a:rect l="l" t="t" r="r" b="b"/>
              <a:pathLst>
                <a:path w="6087" h="4298" extrusionOk="0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3865563" y="74613"/>
              <a:ext cx="9574213" cy="6735763"/>
            </a:xfrm>
            <a:custGeom>
              <a:avLst/>
              <a:gdLst/>
              <a:ahLst/>
              <a:cxnLst/>
              <a:rect l="l" t="t" r="r" b="b"/>
              <a:pathLst>
                <a:path w="6031" h="4243" extrusionOk="0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3892550" y="6342063"/>
              <a:ext cx="9520238" cy="441325"/>
            </a:xfrm>
            <a:custGeom>
              <a:avLst/>
              <a:gdLst/>
              <a:ahLst/>
              <a:cxnLst/>
              <a:rect l="l" t="t" r="r" b="b"/>
              <a:pathLst>
                <a:path w="5997" h="278" extrusionOk="0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2738438" y="6618288"/>
              <a:ext cx="11828463" cy="239713"/>
            </a:xfrm>
            <a:custGeom>
              <a:avLst/>
              <a:gdLst/>
              <a:ahLst/>
              <a:cxnLst/>
              <a:rect l="l" t="t" r="r" b="b"/>
              <a:pathLst>
                <a:path w="7451" h="151" extrusionOk="0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2738438" y="6618288"/>
              <a:ext cx="11828463" cy="55563"/>
            </a:xfrm>
            <a:custGeom>
              <a:avLst/>
              <a:gdLst/>
              <a:ahLst/>
              <a:cxnLst/>
              <a:rect l="l" t="t" r="r" b="b"/>
              <a:pathLst>
                <a:path w="7451" h="35" extrusionOk="0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686B6C"/>
                </a:gs>
                <a:gs pos="3000">
                  <a:srgbClr val="96999A"/>
                </a:gs>
                <a:gs pos="9000">
                  <a:srgbClr val="DFE0E1"/>
                </a:gs>
                <a:gs pos="91000">
                  <a:srgbClr val="DFE0E1"/>
                </a:gs>
                <a:gs pos="97000">
                  <a:srgbClr val="96999A"/>
                </a:gs>
                <a:gs pos="100000">
                  <a:srgbClr val="686B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7524750" y="6619875"/>
              <a:ext cx="2255838" cy="90488"/>
            </a:xfrm>
            <a:custGeom>
              <a:avLst/>
              <a:gdLst/>
              <a:ahLst/>
              <a:cxnLst/>
              <a:rect l="l" t="t" r="r" b="b"/>
              <a:pathLst>
                <a:path w="1421" h="57" extrusionOk="0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686B6C"/>
                </a:gs>
                <a:gs pos="3000">
                  <a:srgbClr val="96999A"/>
                </a:gs>
                <a:gs pos="9000">
                  <a:srgbClr val="D3D4D6"/>
                </a:gs>
                <a:gs pos="91000">
                  <a:srgbClr val="D3D4D6"/>
                </a:gs>
                <a:gs pos="97000">
                  <a:srgbClr val="96999A"/>
                </a:gs>
                <a:gs pos="100000">
                  <a:srgbClr val="686B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63" name="Google Shape;163;p27"/>
          <p:cNvSpPr/>
          <p:nvPr>
            <p:ph type="pic" idx="2"/>
          </p:nvPr>
        </p:nvSpPr>
        <p:spPr>
          <a:xfrm>
            <a:off x="6825291" y="1400175"/>
            <a:ext cx="5762625" cy="3600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4" name="Google Shape;164;p27"/>
          <p:cNvSpPr txBox="1"/>
          <p:nvPr>
            <p:ph type="ctrTitle"/>
          </p:nvPr>
        </p:nvSpPr>
        <p:spPr>
          <a:xfrm>
            <a:off x="514349" y="1400175"/>
            <a:ext cx="515302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K2D" panose="00000500000000000000"/>
              <a:buNone/>
              <a:defRPr sz="40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type="subTitle" idx="1"/>
          </p:nvPr>
        </p:nvSpPr>
        <p:spPr>
          <a:xfrm>
            <a:off x="514348" y="3160711"/>
            <a:ext cx="5153026" cy="183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66" name="Google Shape;166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71" name="Google Shape;171;p27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72" name="Google Shape;172;p2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74" name="Google Shape;174;p27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ne 1">
  <p:cSld name="Phone 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ctrTitle"/>
          </p:nvPr>
        </p:nvSpPr>
        <p:spPr>
          <a:xfrm>
            <a:off x="514349" y="1048131"/>
            <a:ext cx="515302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K2D" panose="00000500000000000000"/>
              <a:buNone/>
              <a:defRPr sz="40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type="subTitle" idx="1"/>
          </p:nvPr>
        </p:nvSpPr>
        <p:spPr>
          <a:xfrm>
            <a:off x="514348" y="2808667"/>
            <a:ext cx="5153026" cy="228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 descr="Samsung Mobile Mockup Template Download on Pngtree | Mobile mockup, Samsung  mobile, Samsu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746875" y="657226"/>
            <a:ext cx="4972049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>
            <p:ph type="pic" idx="2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84" name="Google Shape;184;p2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189" name="Google Shape;189;p28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90" name="Google Shape;190;p2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91" name="Google Shape;191;p2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192" name="Google Shape;192;p28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Information">
  <p:cSld name="User Information">
    <p:bg>
      <p:bgPr>
        <a:solidFill>
          <a:schemeClr val="lt1"/>
        </a:solidFill>
        <a:effectLst/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98" name="Google Shape;198;p29"/>
          <p:cNvSpPr txBox="1"/>
          <p:nvPr>
            <p:ph type="subTitle" idx="1"/>
          </p:nvPr>
        </p:nvSpPr>
        <p:spPr>
          <a:xfrm>
            <a:off x="3501972" y="3856819"/>
            <a:ext cx="7445428" cy="230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 b="0" i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29"/>
          <p:cNvSpPr txBox="1"/>
          <p:nvPr>
            <p:ph type="ctrTitle"/>
          </p:nvPr>
        </p:nvSpPr>
        <p:spPr>
          <a:xfrm>
            <a:off x="3503437" y="2747660"/>
            <a:ext cx="7443963" cy="90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3200"/>
              <a:buFont typeface="K2D" panose="00000500000000000000"/>
              <a:buNone/>
              <a:defRPr sz="32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9"/>
          <p:cNvSpPr/>
          <p:nvPr>
            <p:ph type="pic" idx="2"/>
          </p:nvPr>
        </p:nvSpPr>
        <p:spPr>
          <a:xfrm>
            <a:off x="0" y="0"/>
            <a:ext cx="12192000" cy="258493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1" name="Google Shape;201;p29"/>
          <p:cNvSpPr/>
          <p:nvPr>
            <p:ph type="pic" idx="3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2" name="Google Shape;202;p29"/>
          <p:cNvSpPr/>
          <p:nvPr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03" name="Google Shape;203;p29"/>
          <p:cNvSpPr/>
          <p:nvPr>
            <p:ph type="pic" idx="4"/>
          </p:nvPr>
        </p:nvSpPr>
        <p:spPr>
          <a:xfrm>
            <a:off x="10348756" y="4679980"/>
            <a:ext cx="1574800" cy="1589422"/>
          </a:xfrm>
          <a:prstGeom prst="rect">
            <a:avLst/>
          </a:prstGeom>
          <a:noFill/>
          <a:ln>
            <a:noFill/>
          </a:ln>
        </p:spPr>
      </p:sp>
      <p:pic>
        <p:nvPicPr>
          <p:cNvPr id="204" name="Google Shape;204;p29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211" name="Google Shape;211;p29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2" name="Google Shape;212;p29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14" name="Google Shape;214;p29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5" name="Google Shape;215;p2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no logo">
  <p:cSld name="Title Slide no logo">
    <p:bg>
      <p:bgPr>
        <a:solidFill>
          <a:srgbClr val="1F5CAA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ctrTitle"/>
          </p:nvPr>
        </p:nvSpPr>
        <p:spPr>
          <a:xfrm>
            <a:off x="493144" y="686872"/>
            <a:ext cx="11205713" cy="2200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K2D" panose="00000500000000000000"/>
              <a:buNone/>
              <a:defRPr sz="4400"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type="subTitle" idx="1"/>
          </p:nvPr>
        </p:nvSpPr>
        <p:spPr>
          <a:xfrm>
            <a:off x="493144" y="2887077"/>
            <a:ext cx="11205713" cy="103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1" name="Google Shape;221;p30"/>
          <p:cNvSpPr txBox="1"/>
          <p:nvPr>
            <p:ph type="body" idx="2"/>
          </p:nvPr>
        </p:nvSpPr>
        <p:spPr>
          <a:xfrm>
            <a:off x="493144" y="3947960"/>
            <a:ext cx="11205713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Barlow" panose="00000500000000000000"/>
                <a:ea typeface="Barlow" panose="00000500000000000000"/>
                <a:cs typeface="Barlow" panose="00000500000000000000"/>
                <a:sym typeface="Barlow" panose="00000500000000000000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0"/>
          <p:cNvSpPr/>
          <p:nvPr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223" name="Google Shape;223;p30"/>
          <p:cNvGrpSpPr/>
          <p:nvPr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24" name="Google Shape;224;p30"/>
            <p:cNvSpPr/>
            <p:nvPr/>
          </p:nvSpPr>
          <p:spPr>
            <a:xfrm>
              <a:off x="9886950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10006013" y="559668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10006013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27" name="Google Shape;227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0" name="Google Shape;230;p30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1" name="Google Shape;231;p3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chemeClr val="lt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32" name="Google Shape;232;p3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33" name="Google Shape;233;p30"/>
          <p:cNvSpPr txBox="1"/>
          <p:nvPr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4" name="Google Shape;234;p30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0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838200" y="1520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9" name="Google Shape;239;p3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245" name="Google Shape;245;p31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6" name="Google Shape;246;p3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47" name="Google Shape;247;p31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48" name="Google Shape;248;p31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ceholder Left - Title Right ">
  <p:cSld name="Placeholder Left - Title Right 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type="ctrTitle"/>
          </p:nvPr>
        </p:nvSpPr>
        <p:spPr>
          <a:xfrm>
            <a:off x="6737350" y="1332588"/>
            <a:ext cx="446722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type="subTitle" idx="1"/>
          </p:nvPr>
        </p:nvSpPr>
        <p:spPr>
          <a:xfrm>
            <a:off x="6737348" y="3093124"/>
            <a:ext cx="4467229" cy="219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6" name="Google Shape;256;p32"/>
          <p:cNvSpPr txBox="1"/>
          <p:nvPr>
            <p:ph type="body" idx="2"/>
          </p:nvPr>
        </p:nvSpPr>
        <p:spPr>
          <a:xfrm>
            <a:off x="624706" y="1332588"/>
            <a:ext cx="5381626" cy="395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59" name="Google Shape;259;p32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262" name="Google Shape;262;p32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3" name="Google Shape;263;p3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64" name="Google Shape;264;p3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65" name="Google Shape;265;p32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6" name="Google Shape;266;p3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2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Left">
  <p:cSld name="Picture Lef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/>
          <p:nvPr>
            <p:ph type="pic" idx="2"/>
          </p:nvPr>
        </p:nvSpPr>
        <p:spPr>
          <a:xfrm>
            <a:off x="0" y="0"/>
            <a:ext cx="4787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3"/>
          <p:cNvSpPr txBox="1"/>
          <p:nvPr>
            <p:ph type="ctrTitle"/>
          </p:nvPr>
        </p:nvSpPr>
        <p:spPr>
          <a:xfrm>
            <a:off x="5626100" y="1109534"/>
            <a:ext cx="595947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  <a:defRPr sz="36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type="subTitle" idx="1"/>
          </p:nvPr>
        </p:nvSpPr>
        <p:spPr>
          <a:xfrm>
            <a:off x="5626098" y="2870070"/>
            <a:ext cx="5959480" cy="250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3" name="Google Shape;273;p33"/>
          <p:cNvSpPr/>
          <p:nvPr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274" name="Google Shape;274;p3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280" name="Google Shape;280;p33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81" name="Google Shape;281;p3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282" name="Google Shape;282;p33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83" name="Google Shape;283;p33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4" name="Google Shape;284;p3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Left">
  <p:cSld name="Blue Lef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4"/>
          <p:cNvGrpSpPr/>
          <p:nvPr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289" name="Google Shape;289;p34"/>
            <p:cNvSpPr/>
            <p:nvPr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291" name="Google Shape;291;p34"/>
          <p:cNvSpPr txBox="1"/>
          <p:nvPr>
            <p:ph type="subTitle" idx="1"/>
          </p:nvPr>
        </p:nvSpPr>
        <p:spPr>
          <a:xfrm>
            <a:off x="423332" y="2190750"/>
            <a:ext cx="3335867" cy="3761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2" name="Google Shape;292;p34"/>
          <p:cNvSpPr txBox="1"/>
          <p:nvPr>
            <p:ph type="ctrTitle"/>
          </p:nvPr>
        </p:nvSpPr>
        <p:spPr>
          <a:xfrm>
            <a:off x="423333" y="481807"/>
            <a:ext cx="3335866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K2D" panose="00000500000000000000"/>
              <a:buNone/>
              <a:defRPr sz="2800"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 txBox="1"/>
          <p:nvPr>
            <p:ph type="body" idx="2"/>
          </p:nvPr>
        </p:nvSpPr>
        <p:spPr>
          <a:xfrm>
            <a:off x="4210050" y="1233577"/>
            <a:ext cx="7685088" cy="488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4" name="Google Shape;294;p3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300" name="Google Shape;300;p34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1" name="Google Shape;301;p34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02" name="Google Shape;302;p3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03" name="Google Shape;303;p34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04" name="Google Shape;304;p3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4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Top">
  <p:cSld name="Picture Top">
    <p:bg>
      <p:bgPr>
        <a:solidFill>
          <a:schemeClr val="lt1"/>
        </a:solidFill>
        <a:effectLst/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35"/>
          <p:cNvGrpSpPr/>
          <p:nvPr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309" name="Google Shape;309;p35"/>
            <p:cNvSpPr/>
            <p:nvPr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11" name="Google Shape;311;p35"/>
          <p:cNvSpPr txBox="1"/>
          <p:nvPr>
            <p:ph type="subTitle" idx="1"/>
          </p:nvPr>
        </p:nvSpPr>
        <p:spPr>
          <a:xfrm>
            <a:off x="6191250" y="465934"/>
            <a:ext cx="5229225" cy="163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2" name="Google Shape;312;p35"/>
          <p:cNvSpPr txBox="1"/>
          <p:nvPr>
            <p:ph type="ctrTitle"/>
          </p:nvPr>
        </p:nvSpPr>
        <p:spPr>
          <a:xfrm>
            <a:off x="624705" y="3223632"/>
            <a:ext cx="4928369" cy="142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2800"/>
              <a:buFont typeface="K2D" panose="00000500000000000000"/>
              <a:buNone/>
              <a:defRPr sz="28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5"/>
          <p:cNvSpPr/>
          <p:nvPr>
            <p:ph type="pic" idx="2"/>
          </p:nvPr>
        </p:nvSpPr>
        <p:spPr>
          <a:xfrm>
            <a:off x="625089" y="438150"/>
            <a:ext cx="4927600" cy="2619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4" name="Google Shape;314;p35"/>
          <p:cNvSpPr/>
          <p:nvPr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315" name="Google Shape;315;p35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322" name="Google Shape;322;p35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23" name="Google Shape;323;p35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24" name="Google Shape;324;p35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25" name="Google Shape;325;p35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26" name="Google Shape;326;p3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5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35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Bottom">
  <p:cSld name="Picture Bottom">
    <p:bg>
      <p:bgPr>
        <a:solidFill>
          <a:schemeClr val="lt1"/>
        </a:solidFill>
        <a:effectLst/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6"/>
          <p:cNvGrpSpPr/>
          <p:nvPr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331" name="Google Shape;331;p36"/>
            <p:cNvSpPr/>
            <p:nvPr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33" name="Google Shape;333;p36"/>
          <p:cNvSpPr txBox="1"/>
          <p:nvPr>
            <p:ph type="subTitle" idx="1"/>
          </p:nvPr>
        </p:nvSpPr>
        <p:spPr>
          <a:xfrm>
            <a:off x="741485" y="4229011"/>
            <a:ext cx="5229225" cy="163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4" name="Google Shape;334;p36"/>
          <p:cNvSpPr txBox="1"/>
          <p:nvPr>
            <p:ph type="ctrTitle"/>
          </p:nvPr>
        </p:nvSpPr>
        <p:spPr>
          <a:xfrm>
            <a:off x="6569891" y="811935"/>
            <a:ext cx="5229225" cy="142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2800"/>
              <a:buFont typeface="K2D" panose="00000500000000000000"/>
              <a:buNone/>
              <a:defRPr sz="28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6"/>
          <p:cNvSpPr/>
          <p:nvPr>
            <p:ph type="pic" idx="2"/>
          </p:nvPr>
        </p:nvSpPr>
        <p:spPr>
          <a:xfrm>
            <a:off x="6720704" y="2860675"/>
            <a:ext cx="4927600" cy="2619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6" name="Google Shape;336;p36"/>
          <p:cNvSpPr/>
          <p:nvPr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337" name="Google Shape;337;p36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-5400000">
            <a:off x="222467" y="37597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6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344" name="Google Shape;344;p36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45" name="Google Shape;345;p3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46" name="Google Shape;346;p36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47" name="Google Shape;347;p36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8" name="Google Shape;348;p3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6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/>
          <p:nvPr>
            <p:ph type="title"/>
          </p:nvPr>
        </p:nvSpPr>
        <p:spPr>
          <a:xfrm>
            <a:off x="839788" y="365125"/>
            <a:ext cx="10515600" cy="93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3600"/>
              <a:buFont typeface="K2D" panose="00000500000000000000"/>
              <a:buNone/>
              <a:defRPr sz="36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type="body" idx="1"/>
          </p:nvPr>
        </p:nvSpPr>
        <p:spPr>
          <a:xfrm>
            <a:off x="839789" y="1919678"/>
            <a:ext cx="504666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FEF"/>
              </a:buClr>
              <a:buSzPts val="2800"/>
              <a:buNone/>
              <a:defRPr sz="2800" b="1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54" name="Google Shape;354;p37"/>
          <p:cNvSpPr txBox="1"/>
          <p:nvPr>
            <p:ph type="body" idx="2"/>
          </p:nvPr>
        </p:nvSpPr>
        <p:spPr>
          <a:xfrm>
            <a:off x="839788" y="3006726"/>
            <a:ext cx="5046662" cy="3109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37"/>
          <p:cNvSpPr txBox="1"/>
          <p:nvPr>
            <p:ph type="body" idx="3"/>
          </p:nvPr>
        </p:nvSpPr>
        <p:spPr>
          <a:xfrm>
            <a:off x="6308727" y="1919678"/>
            <a:ext cx="504666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FEF"/>
              </a:buClr>
              <a:buSzPts val="2800"/>
              <a:buNone/>
              <a:defRPr sz="2800" b="1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56" name="Google Shape;356;p37"/>
          <p:cNvSpPr txBox="1"/>
          <p:nvPr>
            <p:ph type="body" idx="4"/>
          </p:nvPr>
        </p:nvSpPr>
        <p:spPr>
          <a:xfrm>
            <a:off x="6308726" y="3006726"/>
            <a:ext cx="5046662" cy="3109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7" name="Google Shape;357;p3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7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1" name="Google Shape;361;p37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363" name="Google Shape;363;p37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64" name="Google Shape;364;p3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65" name="Google Shape;365;p3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66" name="Google Shape;366;p37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67" name="Google Shape;367;p3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7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7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">
  <p:cSld name="2 Column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Google Shape;371;p38"/>
          <p:cNvCxnSpPr/>
          <p:nvPr/>
        </p:nvCxnSpPr>
        <p:spPr>
          <a:xfrm>
            <a:off x="6096000" y="1162050"/>
            <a:ext cx="0" cy="4753154"/>
          </a:xfrm>
          <a:prstGeom prst="straightConnector1">
            <a:avLst/>
          </a:prstGeom>
          <a:noFill/>
          <a:ln w="57150" cap="rnd" cmpd="sng">
            <a:solidFill>
              <a:srgbClr val="00AFEF">
                <a:alpha val="23137"/>
              </a:srgbClr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72" name="Google Shape;372;p38"/>
          <p:cNvSpPr/>
          <p:nvPr>
            <p:ph type="pic" idx="2"/>
          </p:nvPr>
        </p:nvSpPr>
        <p:spPr>
          <a:xfrm>
            <a:off x="897765" y="1162050"/>
            <a:ext cx="4697377" cy="194945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38"/>
          <p:cNvSpPr/>
          <p:nvPr>
            <p:ph type="pic" idx="3"/>
          </p:nvPr>
        </p:nvSpPr>
        <p:spPr>
          <a:xfrm>
            <a:off x="6597297" y="1162050"/>
            <a:ext cx="4697377" cy="194945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38"/>
          <p:cNvSpPr txBox="1"/>
          <p:nvPr>
            <p:ph type="body" idx="1"/>
          </p:nvPr>
        </p:nvSpPr>
        <p:spPr>
          <a:xfrm>
            <a:off x="898361" y="3302000"/>
            <a:ext cx="4695748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type="body" idx="4"/>
          </p:nvPr>
        </p:nvSpPr>
        <p:spPr>
          <a:xfrm>
            <a:off x="6597892" y="3302000"/>
            <a:ext cx="4695748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38"/>
          <p:cNvSpPr/>
          <p:nvPr/>
        </p:nvSpPr>
        <p:spPr>
          <a:xfrm rot="10800000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77" name="Google Shape;377;p38"/>
          <p:cNvSpPr/>
          <p:nvPr/>
        </p:nvSpPr>
        <p:spPr>
          <a:xfrm rot="10800000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382" name="Google Shape;382;p38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383" name="Google Shape;383;p38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84" name="Google Shape;384;p3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85" name="Google Shape;385;p3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386" name="Google Shape;386;p38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87" name="Google Shape;387;p3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8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38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">
  <p:cSld name="3 Column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/>
          <p:nvPr>
            <p:ph type="pic" idx="2"/>
          </p:nvPr>
        </p:nvSpPr>
        <p:spPr>
          <a:xfrm>
            <a:off x="329375" y="1162050"/>
            <a:ext cx="3368256" cy="194945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92" name="Google Shape;392;p39"/>
          <p:cNvCxnSpPr/>
          <p:nvPr/>
        </p:nvCxnSpPr>
        <p:spPr>
          <a:xfrm>
            <a:off x="4038600" y="1162050"/>
            <a:ext cx="0" cy="4753154"/>
          </a:xfrm>
          <a:prstGeom prst="straightConnector1">
            <a:avLst/>
          </a:prstGeom>
          <a:noFill/>
          <a:ln w="57150" cap="rnd" cmpd="sng">
            <a:solidFill>
              <a:srgbClr val="00AFEF">
                <a:alpha val="23137"/>
              </a:srgbClr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393" name="Google Shape;393;p39"/>
          <p:cNvCxnSpPr/>
          <p:nvPr/>
        </p:nvCxnSpPr>
        <p:spPr>
          <a:xfrm>
            <a:off x="8086459" y="1162050"/>
            <a:ext cx="0" cy="4753154"/>
          </a:xfrm>
          <a:prstGeom prst="straightConnector1">
            <a:avLst/>
          </a:prstGeom>
          <a:noFill/>
          <a:ln w="57150" cap="rnd" cmpd="sng">
            <a:solidFill>
              <a:srgbClr val="00AFEF">
                <a:alpha val="23137"/>
              </a:srgbClr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94" name="Google Shape;394;p39"/>
          <p:cNvSpPr/>
          <p:nvPr>
            <p:ph type="pic" idx="3"/>
          </p:nvPr>
        </p:nvSpPr>
        <p:spPr>
          <a:xfrm>
            <a:off x="4378402" y="1162050"/>
            <a:ext cx="3368256" cy="194945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39"/>
          <p:cNvSpPr/>
          <p:nvPr>
            <p:ph type="pic" idx="4"/>
          </p:nvPr>
        </p:nvSpPr>
        <p:spPr>
          <a:xfrm>
            <a:off x="8426261" y="1162050"/>
            <a:ext cx="3368256" cy="194945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39"/>
          <p:cNvSpPr txBox="1"/>
          <p:nvPr>
            <p:ph type="body" idx="1"/>
          </p:nvPr>
        </p:nvSpPr>
        <p:spPr>
          <a:xfrm>
            <a:off x="329912" y="3302000"/>
            <a:ext cx="3367088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39"/>
          <p:cNvSpPr txBox="1"/>
          <p:nvPr>
            <p:ph type="body" idx="5"/>
          </p:nvPr>
        </p:nvSpPr>
        <p:spPr>
          <a:xfrm>
            <a:off x="4378402" y="3302000"/>
            <a:ext cx="3367088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39"/>
          <p:cNvSpPr txBox="1"/>
          <p:nvPr>
            <p:ph type="body" idx="6"/>
          </p:nvPr>
        </p:nvSpPr>
        <p:spPr>
          <a:xfrm>
            <a:off x="8426260" y="3302000"/>
            <a:ext cx="3367088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39"/>
          <p:cNvSpPr/>
          <p:nvPr/>
        </p:nvSpPr>
        <p:spPr>
          <a:xfrm rot="10800000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00" name="Google Shape;400;p39"/>
          <p:cNvSpPr/>
          <p:nvPr/>
        </p:nvSpPr>
        <p:spPr>
          <a:xfrm rot="10800000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01" name="Google Shape;401;p39"/>
          <p:cNvSpPr/>
          <p:nvPr/>
        </p:nvSpPr>
        <p:spPr>
          <a:xfrm rot="10800000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pic>
        <p:nvPicPr>
          <p:cNvPr id="402" name="Google Shape;402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9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04" name="Google Shape;404;p39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06" name="Google Shape;406;p39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07" name="Google Shape;407;p39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08" name="Google Shape;408;p39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09" name="Google Shape;409;p3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10" name="Google Shape;410;p39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11" name="Google Shape;411;p3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9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>
            <p:ph type="body" idx="1"/>
          </p:nvPr>
        </p:nvSpPr>
        <p:spPr>
          <a:xfrm rot="5400000">
            <a:off x="4113213" y="-1449386"/>
            <a:ext cx="3965573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p40"/>
          <p:cNvSpPr txBox="1"/>
          <p:nvPr>
            <p:ph type="title"/>
          </p:nvPr>
        </p:nvSpPr>
        <p:spPr>
          <a:xfrm>
            <a:off x="839788" y="365125"/>
            <a:ext cx="10515600" cy="93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3200"/>
              <a:buFont typeface="K2D" panose="00000500000000000000"/>
              <a:buNone/>
              <a:defRPr sz="32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17" name="Google Shape;417;p4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0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23" name="Google Shape;423;p40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24" name="Google Shape;424;p4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25" name="Google Shape;425;p4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26" name="Google Shape;426;p40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27" name="Google Shape;427;p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0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3200"/>
              <a:buFont typeface="K2D" panose="00000500000000000000"/>
              <a:buNone/>
              <a:defRPr sz="32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1"/>
          <p:cNvSpPr txBox="1"/>
          <p:nvPr>
            <p:ph type="body" idx="1"/>
          </p:nvPr>
        </p:nvSpPr>
        <p:spPr>
          <a:xfrm rot="5400000">
            <a:off x="1875631" y="-672303"/>
            <a:ext cx="58118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Readex Pro"/>
                <a:ea typeface="Readex Pro"/>
                <a:cs typeface="Readex Pro"/>
                <a:sym typeface="Readex Pr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Readex Pro"/>
                <a:ea typeface="Readex Pro"/>
                <a:cs typeface="Readex Pro"/>
                <a:sym typeface="Readex Pro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Readex Pro"/>
                <a:ea typeface="Readex Pro"/>
                <a:cs typeface="Readex Pro"/>
                <a:sym typeface="Readex Pro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Readex Pro"/>
                <a:ea typeface="Readex Pro"/>
                <a:cs typeface="Readex Pro"/>
                <a:sym typeface="Readex Pr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3" name="Google Shape;433;p4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1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38" name="Google Shape;438;p41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39" name="Google Shape;439;p41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40" name="Google Shape;440;p4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41" name="Google Shape;441;p41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42" name="Google Shape;442;p41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43" name="Google Shape;443;p4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1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1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/>
          <p:nvPr>
            <p:ph type="title"/>
          </p:nvPr>
        </p:nvSpPr>
        <p:spPr>
          <a:xfrm>
            <a:off x="838200" y="325583"/>
            <a:ext cx="10515600" cy="97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A9"/>
              </a:buClr>
              <a:buSzPts val="3200"/>
              <a:buFont typeface="K2D" panose="00000500000000000000"/>
              <a:buNone/>
              <a:defRPr sz="3200" b="1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8" name="Google Shape;448;p42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2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54" name="Google Shape;454;p42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55" name="Google Shape;455;p42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56" name="Google Shape;456;p4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57" name="Google Shape;457;p4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58" name="Google Shape;458;p42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59" name="Google Shape;459;p42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2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White">
  <p:cSld name="BLANK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43"/>
          <p:cNvPicPr preferRelativeResize="0"/>
          <p:nvPr/>
        </p:nvPicPr>
        <p:blipFill rotWithShape="1">
          <a:blip r:embed="rId2">
            <a:alphaModFix amt="85000"/>
          </a:blip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3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69" name="Google Shape;469;p43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470" name="Google Shape;470;p4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471" name="Google Shape;471;p43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72" name="Google Shape;472;p43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73" name="Google Shape;473;p4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3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43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 1">
  <p:cSld name="Blank Blue 1">
    <p:bg>
      <p:bgPr>
        <a:solidFill>
          <a:srgbClr val="1F5CA9"/>
        </a:solidFill>
        <a:effectLst/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4"/>
          <p:cNvSpPr/>
          <p:nvPr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479" name="Google Shape;479;p44"/>
          <p:cNvGrpSpPr/>
          <p:nvPr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480" name="Google Shape;480;p44"/>
            <p:cNvSpPr/>
            <p:nvPr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481" name="Google Shape;481;p44"/>
            <p:cNvSpPr txBox="1"/>
            <p:nvPr/>
          </p:nvSpPr>
          <p:spPr>
            <a:xfrm>
              <a:off x="159150" y="6454898"/>
              <a:ext cx="465556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fld id="{00000000-1234-1234-1234-123412341234}" type="slidenum">
                <a:rPr lang="en-US" sz="1200" b="0" i="0" u="none" strike="noStrike" cap="none">
                  <a:solidFill>
                    <a:schemeClr val="lt1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</a:fld>
              <a:endParaRPr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482" name="Google Shape;482;p44"/>
          <p:cNvSpPr txBox="1"/>
          <p:nvPr>
            <p:ph type="dt" idx="10"/>
          </p:nvPr>
        </p:nvSpPr>
        <p:spPr>
          <a:xfrm>
            <a:off x="914400" y="65482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44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44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ĐẠI HỌC CẦN THƠ</a:t>
            </a:r>
            <a:endParaRPr sz="1400" b="1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86" name="Google Shape;486;p4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4"/>
          <p:cNvSpPr txBox="1"/>
          <p:nvPr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adex Pro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rPr>
              <a:t>Cộng đồng – Toàn diện – Ưu việt</a:t>
            </a:r>
            <a:endParaRPr sz="800" b="0" i="0" u="none" strike="noStrike" cap="none">
              <a:solidFill>
                <a:schemeClr val="lt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grpSp>
        <p:nvGrpSpPr>
          <p:cNvPr id="488" name="Google Shape;488;p44"/>
          <p:cNvGrpSpPr/>
          <p:nvPr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89" name="Google Shape;489;p44"/>
            <p:cNvSpPr/>
            <p:nvPr/>
          </p:nvSpPr>
          <p:spPr>
            <a:xfrm>
              <a:off x="9886950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0" name="Google Shape;490;p44"/>
            <p:cNvSpPr/>
            <p:nvPr/>
          </p:nvSpPr>
          <p:spPr>
            <a:xfrm>
              <a:off x="10006013" y="559668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00AFE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1" name="Google Shape;491;p44"/>
            <p:cNvSpPr/>
            <p:nvPr/>
          </p:nvSpPr>
          <p:spPr>
            <a:xfrm>
              <a:off x="10006013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 2">
  <p:cSld name="Blank Blue 2">
    <p:bg>
      <p:bgPr>
        <a:solidFill>
          <a:srgbClr val="00B0F0"/>
        </a:solidFill>
        <a:effectLst/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45"/>
          <p:cNvGrpSpPr/>
          <p:nvPr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95" name="Google Shape;495;p45"/>
            <p:cNvSpPr/>
            <p:nvPr/>
          </p:nvSpPr>
          <p:spPr>
            <a:xfrm>
              <a:off x="9886950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10006013" y="559668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10006013" y="442913"/>
              <a:ext cx="97631" cy="97631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498" name="Google Shape;498;p4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5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00" name="Google Shape;500;p45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1" name="Google Shape;501;p45"/>
          <p:cNvSpPr/>
          <p:nvPr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503" name="Google Shape;503;p45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04" name="Google Shape;504;p45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chemeClr val="lt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chemeClr val="lt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505" name="Google Shape;505;p45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506" name="Google Shape;506;p45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7" name="Google Shape;507;p45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cbook 1">
  <p:cSld name="Macbook 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6"/>
          <p:cNvGrpSpPr/>
          <p:nvPr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511" name="Google Shape;511;p46"/>
            <p:cNvSpPr/>
            <p:nvPr/>
          </p:nvSpPr>
          <p:spPr>
            <a:xfrm>
              <a:off x="3821113" y="30163"/>
              <a:ext cx="9663113" cy="6823075"/>
            </a:xfrm>
            <a:custGeom>
              <a:avLst/>
              <a:gdLst/>
              <a:ahLst/>
              <a:cxnLst/>
              <a:rect l="l" t="t" r="r" b="b"/>
              <a:pathLst>
                <a:path w="6087" h="4298" extrusionOk="0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3865563" y="74613"/>
              <a:ext cx="9574213" cy="6735763"/>
            </a:xfrm>
            <a:custGeom>
              <a:avLst/>
              <a:gdLst/>
              <a:ahLst/>
              <a:cxnLst/>
              <a:rect l="l" t="t" r="r" b="b"/>
              <a:pathLst>
                <a:path w="6031" h="4243" extrusionOk="0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3892550" y="6342063"/>
              <a:ext cx="9520238" cy="441325"/>
            </a:xfrm>
            <a:custGeom>
              <a:avLst/>
              <a:gdLst/>
              <a:ahLst/>
              <a:cxnLst/>
              <a:rect l="l" t="t" r="r" b="b"/>
              <a:pathLst>
                <a:path w="5997" h="278" extrusionOk="0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2738438" y="6618288"/>
              <a:ext cx="11828463" cy="239713"/>
            </a:xfrm>
            <a:custGeom>
              <a:avLst/>
              <a:gdLst/>
              <a:ahLst/>
              <a:cxnLst/>
              <a:rect l="l" t="t" r="r" b="b"/>
              <a:pathLst>
                <a:path w="7451" h="151" extrusionOk="0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2738438" y="6618288"/>
              <a:ext cx="11828463" cy="55563"/>
            </a:xfrm>
            <a:custGeom>
              <a:avLst/>
              <a:gdLst/>
              <a:ahLst/>
              <a:cxnLst/>
              <a:rect l="l" t="t" r="r" b="b"/>
              <a:pathLst>
                <a:path w="7451" h="35" extrusionOk="0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686B6C"/>
                </a:gs>
                <a:gs pos="3000">
                  <a:srgbClr val="96999A"/>
                </a:gs>
                <a:gs pos="9000">
                  <a:srgbClr val="DFE0E1"/>
                </a:gs>
                <a:gs pos="91000">
                  <a:srgbClr val="DFE0E1"/>
                </a:gs>
                <a:gs pos="97000">
                  <a:srgbClr val="96999A"/>
                </a:gs>
                <a:gs pos="100000">
                  <a:srgbClr val="686B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7524750" y="6619875"/>
              <a:ext cx="2255838" cy="90488"/>
            </a:xfrm>
            <a:custGeom>
              <a:avLst/>
              <a:gdLst/>
              <a:ahLst/>
              <a:cxnLst/>
              <a:rect l="l" t="t" r="r" b="b"/>
              <a:pathLst>
                <a:path w="1421" h="57" extrusionOk="0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686B6C"/>
                </a:gs>
                <a:gs pos="3000">
                  <a:srgbClr val="96999A"/>
                </a:gs>
                <a:gs pos="9000">
                  <a:srgbClr val="D3D4D6"/>
                </a:gs>
                <a:gs pos="91000">
                  <a:srgbClr val="D3D4D6"/>
                </a:gs>
                <a:gs pos="97000">
                  <a:srgbClr val="96999A"/>
                </a:gs>
                <a:gs pos="100000">
                  <a:srgbClr val="686B6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518" name="Google Shape;518;p46"/>
          <p:cNvSpPr/>
          <p:nvPr>
            <p:ph type="pic" idx="2"/>
          </p:nvPr>
        </p:nvSpPr>
        <p:spPr>
          <a:xfrm>
            <a:off x="3219450" y="1400175"/>
            <a:ext cx="5762625" cy="3600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519" name="Google Shape;519;p4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6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2" name="Google Shape;522;p46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524" name="Google Shape;524;p46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25" name="Google Shape;525;p4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526" name="Google Shape;526;p46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527" name="Google Shape;527;p46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28" name="Google Shape;528;p4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6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ne 2">
  <p:cSld name="Phone 2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43863" y="1011126"/>
            <a:ext cx="3171810" cy="513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7"/>
          <p:cNvPicPr preferRelativeResize="0"/>
          <p:nvPr/>
        </p:nvPicPr>
        <p:blipFill rotWithShape="1">
          <a:blip r:embed="rId3">
            <a:alphaModFix amt="85000"/>
          </a:blip>
          <a:srcRect/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7"/>
          <p:cNvSpPr txBox="1"/>
          <p:nvPr>
            <p:ph type="ctrTitle"/>
          </p:nvPr>
        </p:nvSpPr>
        <p:spPr>
          <a:xfrm>
            <a:off x="514349" y="1048131"/>
            <a:ext cx="515302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K2D" panose="00000500000000000000"/>
              <a:buNone/>
              <a:defRPr sz="4000" b="1">
                <a:solidFill>
                  <a:srgbClr val="0070C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47"/>
          <p:cNvSpPr txBox="1"/>
          <p:nvPr>
            <p:ph type="subTitle" idx="1"/>
          </p:nvPr>
        </p:nvSpPr>
        <p:spPr>
          <a:xfrm>
            <a:off x="514348" y="2808667"/>
            <a:ext cx="5153026" cy="2287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7" name="Google Shape;537;p47"/>
          <p:cNvSpPr txBox="1"/>
          <p:nvPr/>
        </p:nvSpPr>
        <p:spPr>
          <a:xfrm>
            <a:off x="159150" y="645489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2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CTU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540" name="Google Shape;540;p47"/>
          <p:cNvSpPr txBox="1"/>
          <p:nvPr/>
        </p:nvSpPr>
        <p:spPr>
          <a:xfrm>
            <a:off x="11512613" y="6447278"/>
            <a:ext cx="4655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</a:fld>
            <a:endParaRPr sz="1050" b="0" i="0" u="none" strike="noStrike" cap="none">
              <a:solidFill>
                <a:schemeClr val="lt1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grpSp>
        <p:nvGrpSpPr>
          <p:cNvPr id="541" name="Google Shape;541;p47"/>
          <p:cNvGrpSpPr/>
          <p:nvPr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42" name="Google Shape;542;p4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FEF"/>
                </a:buClr>
                <a:buSzPts val="800"/>
                <a:buFont typeface="Readex Pro"/>
                <a:buNone/>
              </a:pPr>
              <a:r>
                <a:rPr lang="en-US" sz="800" b="0" i="0" u="none" strike="noStrike" cap="none">
                  <a:solidFill>
                    <a:srgbClr val="00AFEF"/>
                  </a:solidFill>
                  <a:latin typeface="Readex Pro"/>
                  <a:ea typeface="Readex Pro"/>
                  <a:cs typeface="Readex Pro"/>
                  <a:sym typeface="Readex Pro"/>
                </a:rPr>
                <a:t>Cộng đồng – Toàn diện – Ưu việt</a:t>
              </a:r>
              <a:endParaRPr sz="800" b="0" i="0" u="none" strike="noStrike" cap="none">
                <a:solidFill>
                  <a:srgbClr val="00AFEF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543" name="Google Shape;543;p4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1" i="0" u="none" strike="noStrike" cap="none">
                  <a:solidFill>
                    <a:srgbClr val="1F5CA9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ĐẠI HỌC CẦN THƠ</a:t>
              </a:r>
              <a:endParaRPr sz="1400" b="1" i="0" u="none" strike="noStrike" cap="none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</p:grpSp>
      <p:sp>
        <p:nvSpPr>
          <p:cNvPr id="544" name="Google Shape;544;p47"/>
          <p:cNvSpPr txBox="1"/>
          <p:nvPr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00AFE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www.ctu.edu.vn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>
            <p:ph type="dt" idx="10"/>
          </p:nvPr>
        </p:nvSpPr>
        <p:spPr>
          <a:xfrm>
            <a:off x="1218484" y="6548263"/>
            <a:ext cx="23819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47"/>
          <p:cNvSpPr txBox="1"/>
          <p:nvPr>
            <p:ph type="ftr" idx="11"/>
          </p:nvPr>
        </p:nvSpPr>
        <p:spPr>
          <a:xfrm>
            <a:off x="4038600" y="654826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47"/>
          <p:cNvSpPr/>
          <p:nvPr>
            <p:ph type="pic" idx="2"/>
          </p:nvPr>
        </p:nvSpPr>
        <p:spPr>
          <a:xfrm>
            <a:off x="8461702" y="1108334"/>
            <a:ext cx="2131430" cy="46265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9" name="Google Shape;549;p47"/>
          <p:cNvSpPr/>
          <p:nvPr>
            <p:ph type="pic" idx="3"/>
          </p:nvPr>
        </p:nvSpPr>
        <p:spPr>
          <a:xfrm>
            <a:off x="9255760" y="1200818"/>
            <a:ext cx="534445" cy="15554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K2D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notesSlide" Target="../notesSlides/notesSlide12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image" Target="../media/image15.png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"/>
          <p:cNvSpPr txBox="1"/>
          <p:nvPr>
            <p:ph type="ctrTitle"/>
          </p:nvPr>
        </p:nvSpPr>
        <p:spPr>
          <a:xfrm>
            <a:off x="273050" y="3213100"/>
            <a:ext cx="11673205" cy="134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K2D" panose="00000500000000000000"/>
              <a:buNone/>
            </a:pPr>
            <a:r>
              <a:rPr lang="en-US" sz="4200"/>
              <a:t>XÂY DỰNG TRỢ LÝ ẢO</a:t>
            </a:r>
            <a:br>
              <a:rPr lang="en-US" sz="4200"/>
            </a:br>
            <a:r>
              <a:rPr lang="en-US" sz="4200"/>
              <a:t>HỖ TRỢ QUÁ TRÌNH TIẾP XÚC CỬ TRI</a:t>
            </a:r>
            <a:endParaRPr lang="en-US" sz="4200"/>
          </a:p>
        </p:txBody>
      </p:sp>
      <p:sp>
        <p:nvSpPr>
          <p:cNvPr id="555" name="Google Shape;555;p1"/>
          <p:cNvSpPr txBox="1"/>
          <p:nvPr>
            <p:ph type="subTitle" idx="1"/>
          </p:nvPr>
        </p:nvSpPr>
        <p:spPr>
          <a:xfrm>
            <a:off x="413394" y="-8"/>
            <a:ext cx="11205600" cy="10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300"/>
              <a:t>ĐẠI HỌC CẦN THƠ</a:t>
            </a:r>
            <a:endParaRPr sz="23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300"/>
              <a:t>TRƯỜNG CÔNG NGHỆ THÔNG TIN VÀ TRUYỀN THÔNG</a:t>
            </a:r>
            <a:endParaRPr sz="2300"/>
          </a:p>
        </p:txBody>
      </p:sp>
      <p:sp>
        <p:nvSpPr>
          <p:cNvPr id="556" name="Google Shape;556;p1"/>
          <p:cNvSpPr txBox="1"/>
          <p:nvPr>
            <p:ph type="body" idx="2"/>
          </p:nvPr>
        </p:nvSpPr>
        <p:spPr>
          <a:xfrm>
            <a:off x="6939280" y="5156835"/>
            <a:ext cx="4792980" cy="127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 b="1" i="1" u="sng"/>
              <a:t>Sinh viên thực hiện:</a:t>
            </a:r>
            <a:endParaRPr sz="2200" b="1" i="1" u="sng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/>
              <a:t>Họ tên sinh viên: Lê Tuấn Đạt</a:t>
            </a:r>
            <a:endParaRPr lang="en-US" sz="220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/>
              <a:t>Mã số sinh viên: B2113328</a:t>
            </a:r>
            <a:endParaRPr lang="en-US" sz="220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/>
              <a:t>Khóa: 47 </a:t>
            </a:r>
            <a:endParaRPr sz="2200"/>
          </a:p>
        </p:txBody>
      </p:sp>
      <p:sp>
        <p:nvSpPr>
          <p:cNvPr id="557" name="Google Shape;557;p1"/>
          <p:cNvSpPr txBox="1"/>
          <p:nvPr>
            <p:ph type="ctrTitle"/>
          </p:nvPr>
        </p:nvSpPr>
        <p:spPr>
          <a:xfrm>
            <a:off x="493200" y="1795255"/>
            <a:ext cx="11205600" cy="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K2D" panose="00000500000000000000"/>
              <a:buNone/>
            </a:pPr>
            <a:r>
              <a:rPr lang="en-US" sz="2780"/>
              <a:t>LUẬN VĂN TỐT NGHIỆP</a:t>
            </a:r>
            <a:br>
              <a:rPr lang="en-US" sz="2780"/>
            </a:br>
            <a:r>
              <a:rPr lang="en-US" sz="2780"/>
              <a:t>NGÀNH KHOA HỌC MÁY TÍNH</a:t>
            </a:r>
            <a:endParaRPr lang="en-US" sz="2780"/>
          </a:p>
        </p:txBody>
      </p:sp>
      <p:sp>
        <p:nvSpPr>
          <p:cNvPr id="558" name="Google Shape;558;p1"/>
          <p:cNvSpPr txBox="1"/>
          <p:nvPr>
            <p:ph type="body" idx="2"/>
          </p:nvPr>
        </p:nvSpPr>
        <p:spPr>
          <a:xfrm>
            <a:off x="413385" y="5229225"/>
            <a:ext cx="4220845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 b="1" i="1" u="sng"/>
              <a:t>Giảng viên hướng dẫn:</a:t>
            </a:r>
            <a:endParaRPr sz="2200" b="1" i="1" u="sng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200"/>
              <a:t>TS. Trần Nguyễn Minh Thư</a:t>
            </a:r>
            <a:endParaRPr sz="2200" i="1" u="sng"/>
          </a:p>
        </p:txBody>
      </p:sp>
      <p:sp>
        <p:nvSpPr>
          <p:cNvPr id="2" name="Text Box 1"/>
          <p:cNvSpPr txBox="1"/>
          <p:nvPr/>
        </p:nvSpPr>
        <p:spPr>
          <a:xfrm>
            <a:off x="11198225" y="66262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r>
              <a:rPr lang="en-US"/>
              <a:t>NỘI DUNG CHÍNH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840105" y="1556385"/>
            <a:ext cx="42722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</a:rPr>
              <a:t>I. GIỚI THIỆU ĐỀ TÀI</a:t>
            </a:r>
            <a:endParaRPr lang="en-US" sz="3000" b="1">
              <a:solidFill>
                <a:schemeClr val="tx1"/>
              </a:solidFill>
              <a:latin typeface="K2D" panose="00000500000000000000" charset="0"/>
              <a:cs typeface="K2D" panose="00000500000000000000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40105" y="2557145"/>
            <a:ext cx="59048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</a:rPr>
              <a:t>II. GIẢI PHÁP CHO BÀI TOÁN</a:t>
            </a:r>
            <a:endParaRPr lang="en-US" sz="3000" b="1">
              <a:solidFill>
                <a:schemeClr val="tx1"/>
              </a:solidFill>
              <a:latin typeface="K2D" panose="00000500000000000000" charset="0"/>
              <a:cs typeface="K2D" panose="00000500000000000000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40105" y="3572510"/>
            <a:ext cx="47021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</a:rPr>
              <a:t>III. </a:t>
            </a:r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KẾT QUẢ ĐẠT ĐƯỢC</a:t>
            </a:r>
            <a:endParaRPr lang="en-US" sz="3000" b="1">
              <a:solidFill>
                <a:schemeClr val="tx1"/>
              </a:solidFill>
              <a:latin typeface="K2D" panose="00000500000000000000" charset="0"/>
              <a:cs typeface="K2D" panose="00000500000000000000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40105" y="4725035"/>
            <a:ext cx="10948035" cy="864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</a:rPr>
              <a:t>IV. KẾT LUẬN </a:t>
            </a:r>
            <a:r>
              <a:rPr lang="en-US" sz="3000" b="1">
                <a:solidFill>
                  <a:schemeClr val="tx1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VÀ HƯỚNG PHÁT TRIỂN</a:t>
            </a:r>
            <a:endParaRPr lang="en-US" sz="3000" b="1">
              <a:solidFill>
                <a:schemeClr val="tx1"/>
              </a:solidFill>
              <a:latin typeface="K2D" panose="00000500000000000000" charset="0"/>
              <a:cs typeface="K2D" panose="00000500000000000000" charset="0"/>
            </a:endParaRPr>
          </a:p>
          <a:p>
            <a:endParaRPr lang="en-US" sz="3000" b="1">
              <a:solidFill>
                <a:schemeClr val="tx1"/>
              </a:solidFill>
              <a:latin typeface="K2D" panose="00000500000000000000" charset="0"/>
              <a:cs typeface="K2D" panose="000005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"/>
          <p:cNvSpPr txBox="1"/>
          <p:nvPr>
            <p:ph type="ctrTitle"/>
          </p:nvPr>
        </p:nvSpPr>
        <p:spPr>
          <a:xfrm>
            <a:off x="479425" y="1916430"/>
            <a:ext cx="11205845" cy="2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</a:pPr>
            <a:r>
              <a:rPr lang="en-US" sz="5500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I. GIỚI THIỆU ĐỀ TÀI</a:t>
            </a:r>
            <a:r>
              <a:rPr lang="en-US" sz="4445">
                <a:latin typeface="Readex Pro"/>
                <a:ea typeface="Readex Pro"/>
                <a:cs typeface="Readex Pro"/>
                <a:sym typeface="Readex Pro"/>
              </a:rPr>
              <a:t> </a:t>
            </a:r>
            <a:endParaRPr sz="4445">
              <a:latin typeface="Readex Pro"/>
              <a:ea typeface="Readex Pro"/>
              <a:cs typeface="Readex Pro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"/>
          <p:cNvSpPr txBox="1"/>
          <p:nvPr>
            <p:ph type="title"/>
          </p:nvPr>
        </p:nvSpPr>
        <p:spPr>
          <a:xfrm>
            <a:off x="838200" y="151765"/>
            <a:ext cx="32156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1. Đặt vấn đề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551180" y="1268730"/>
            <a:ext cx="11182985" cy="4351655"/>
          </a:xfrm>
        </p:spPr>
        <p:txBody>
          <a:bodyPr>
            <a:noAutofit/>
          </a:bodyPr>
          <a:p>
            <a:pPr marL="6858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700"/>
              <a:t>Khối lượng văn bản pháp luật lớn, ngôn ngữ phức tạp =&gt; Gây khó khăn trong tra cứu, áp dụng.</a:t>
            </a:r>
            <a:endParaRPr lang="en-US" sz="2700"/>
          </a:p>
          <a:p>
            <a:pPr marL="6858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700"/>
              <a:t>Tiếp xúc cử tri: Đại biểu thường nhận câu hỏi pháp lý đột xuất, cần phản hồi kịp thời.</a:t>
            </a:r>
            <a:endParaRPr lang="en-US" sz="2700"/>
          </a:p>
        </p:txBody>
      </p:sp>
      <p:pic>
        <p:nvPicPr>
          <p:cNvPr id="4" name="Picture 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775" y="3609340"/>
            <a:ext cx="3893820" cy="2337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4965700" y="6036310"/>
            <a:ext cx="251841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500" i="1">
                <a:latin typeface="Readex Pro" charset="0"/>
                <a:cs typeface="Readex Pro" charset="0"/>
              </a:rPr>
              <a:t>Nguồn: </a:t>
            </a:r>
            <a:r>
              <a:rPr lang="en-US" altLang="en-US" sz="1500" i="1">
                <a:latin typeface="Readex Pro" charset="0"/>
                <a:cs typeface="Readex Pro" charset="0"/>
              </a:rPr>
              <a:t>baochinhphu.vn</a:t>
            </a:r>
            <a:endParaRPr lang="en-US" altLang="en-US" sz="1500" i="1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"/>
          <p:cNvSpPr txBox="1"/>
          <p:nvPr>
            <p:ph type="title"/>
          </p:nvPr>
        </p:nvSpPr>
        <p:spPr>
          <a:xfrm>
            <a:off x="838200" y="151765"/>
            <a:ext cx="32156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1. Đặt vấn đề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551180" y="1268730"/>
            <a:ext cx="11182985" cy="4351655"/>
          </a:xfrm>
        </p:spPr>
        <p:txBody>
          <a:bodyPr>
            <a:noAutofit/>
          </a:bodyPr>
          <a:p>
            <a:pPr marL="6858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700"/>
              <a:t>Hạn chế công cụ hiện tại: Tra cứu theo từ khóa =&gt; Mất thời gian, không chắc tìm được văn bản theo ý muốn.</a:t>
            </a:r>
            <a:endParaRPr lang="en-US" sz="2700"/>
          </a:p>
          <a:p>
            <a:pPr marL="68580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700"/>
              <a:t>Công nghệ NLP &amp; LLMs (Transformer, RAG) mở ra hướng hỗ trợ hiệu quả, chính xác và minh bạch.</a:t>
            </a:r>
            <a:endParaRPr lang="en-US" sz="2700"/>
          </a:p>
          <a:p>
            <a:pPr>
              <a:lnSpc>
                <a:spcPct val="140000"/>
              </a:lnSpc>
            </a:pPr>
            <a:r>
              <a:rPr lang="en-US" sz="2700"/>
              <a:t>=&gt; Xây dựng trợ lý ảo giúp đại biểu, cán bộ, người dân tra cứu và trả lời nhanh chóng.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Google Shape;585;p6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K2D" panose="000005000000000000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2. Mục tiêu đề tài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551180" y="1268730"/>
            <a:ext cx="11182985" cy="4999990"/>
          </a:xfrm>
        </p:spPr>
        <p:txBody>
          <a:bodyPr>
            <a:noAutofit/>
          </a:bodyPr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Xây dựng hệ thống hỏi-đáp dựa trên văn bản quy phạm pháp luật (PDF).</a:t>
            </a: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Ứng dụng RAG + LLM để tăng độ chính xác, hạn chế “ảo giác”.</a:t>
            </a: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Phát triển ứng dụng web trực quan, hỗ trợ tra cứu và hỏi đáp nhanh chóng.</a:t>
            </a: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Cung cấp câu trả lời kèm trích dẫn nguồn --&gt; đảm bảo minh bạch và tin cậy.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1;g33f212c49e7_1_20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3. Mô tả bài toán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314325" y="1701165"/>
            <a:ext cx="11419840" cy="4567555"/>
          </a:xfrm>
        </p:spPr>
        <p:txBody>
          <a:bodyPr>
            <a:noAutofit/>
          </a:bodyPr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Trong tiếp xúc cử tri, đại biểu thường gặp nhiều câu hỏi pháp lý </a:t>
            </a:r>
            <a:r>
              <a:rPr lang="en-US" sz="27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 trả lời ngay</a:t>
            </a:r>
            <a:r>
              <a:rPr lang="en-US" sz="2700"/>
              <a:t>, và </a:t>
            </a:r>
            <a:r>
              <a:rPr lang="en-US" sz="27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 căn cứ</a:t>
            </a:r>
            <a:r>
              <a:rPr lang="en-US" sz="2700"/>
              <a:t>.</a:t>
            </a:r>
            <a:endParaRPr lang="en-US" sz="2700"/>
          </a:p>
          <a:p>
            <a:pPr marL="228600" indent="0">
              <a:lnSpc>
                <a:spcPct val="150000"/>
              </a:lnSpc>
              <a:buFont typeface="Arial" panose="020B0604020202020204" pitchFamily="34" charset="0"/>
            </a:pP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Khó khăn: Văn bản quy phạm pháp luật dài, ngôn ngữ chuyên ngành, tra cứu thủ công mất nhiều thời gian.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f212c49e7_1_20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3. </a:t>
            </a: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Mô tả bài toán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9" name="Oval 8"/>
          <p:cNvSpPr/>
          <p:nvPr/>
        </p:nvSpPr>
        <p:spPr>
          <a:xfrm>
            <a:off x="263525" y="2548255"/>
            <a:ext cx="2651760" cy="1656080"/>
          </a:xfrm>
          <a:prstGeom prst="ellipse">
            <a:avLst/>
          </a:prstGeom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200" b="1">
                <a:solidFill>
                  <a:schemeClr val="tx1"/>
                </a:solidFill>
                <a:latin typeface="Readex Pro" charset="0"/>
                <a:cs typeface="Readex Pro" charset="0"/>
              </a:rPr>
              <a:t>Bài toán đặt ra</a:t>
            </a:r>
            <a:endParaRPr lang="en-US" sz="3200" b="1">
              <a:solidFill>
                <a:schemeClr val="tx1"/>
              </a:solidFill>
              <a:latin typeface="Readex Pro" charset="0"/>
              <a:cs typeface="Readex Pro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75685" y="1195070"/>
            <a:ext cx="78676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sz="3000">
                <a:latin typeface="Readex Pro" charset="0"/>
                <a:cs typeface="Readex Pro" charset="0"/>
              </a:rPr>
              <a:t>Xây dựng trợ lý ảo có thể trả lời câu hỏi như một “chuyên gia”</a:t>
            </a:r>
            <a:endParaRPr lang="en-US" sz="3000">
              <a:latin typeface="Readex Pro" charset="0"/>
              <a:cs typeface="Readex Pro" charset="0"/>
            </a:endParaRPr>
          </a:p>
        </p:txBody>
      </p:sp>
      <p:cxnSp>
        <p:nvCxnSpPr>
          <p:cNvPr id="3" name="Straight Arrow Connector 2"/>
          <p:cNvCxnSpPr>
            <a:stCxn id="1" idx="7"/>
            <a:endCxn id="2" idx="1"/>
          </p:cNvCxnSpPr>
          <p:nvPr/>
        </p:nvCxnSpPr>
        <p:spPr>
          <a:xfrm flipV="1">
            <a:off x="2526665" y="1748790"/>
            <a:ext cx="1049020" cy="10420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4224020" y="2493010"/>
            <a:ext cx="78676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sz="3000">
                <a:latin typeface="Readex Pro" charset="0"/>
                <a:cs typeface="Readex Pro" charset="0"/>
              </a:rPr>
              <a:t>Người dùng đặt câu hỏi tự nhiên </a:t>
            </a:r>
            <a:endParaRPr lang="en-US" sz="3000">
              <a:latin typeface="Readex Pro" charset="0"/>
              <a:cs typeface="Readex Pro" charset="0"/>
            </a:endParaRPr>
          </a:p>
          <a:p>
            <a:pPr>
              <a:lnSpc>
                <a:spcPct val="120000"/>
              </a:lnSpc>
            </a:pPr>
            <a:r>
              <a:rPr lang="en-US" sz="3000">
                <a:latin typeface="Readex Pro" charset="0"/>
                <a:cs typeface="Readex Pro" charset="0"/>
              </a:rPr>
              <a:t>-&gt; hệ thống tìm đúng điều khoản và sinh câu trả lời mạch lạc</a:t>
            </a:r>
            <a:endParaRPr lang="en-US" sz="3000">
              <a:latin typeface="Readex Pro" charset="0"/>
              <a:cs typeface="Readex Pro" charset="0"/>
            </a:endParaRPr>
          </a:p>
        </p:txBody>
      </p:sp>
      <p:cxnSp>
        <p:nvCxnSpPr>
          <p:cNvPr id="5" name="Straight Arrow Connector 4"/>
          <p:cNvCxnSpPr>
            <a:stCxn id="1" idx="6"/>
            <a:endCxn id="4" idx="1"/>
          </p:cNvCxnSpPr>
          <p:nvPr/>
        </p:nvCxnSpPr>
        <p:spPr>
          <a:xfrm flipV="1">
            <a:off x="2915285" y="3369945"/>
            <a:ext cx="1308735" cy="6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3575685" y="4532630"/>
            <a:ext cx="786765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sz="3000">
                <a:latin typeface="Readex Pro" charset="0"/>
                <a:cs typeface="Readex Pro" charset="0"/>
              </a:rPr>
              <a:t>Câu trả lời kèm nguồn trích dẫn</a:t>
            </a:r>
            <a:endParaRPr lang="en-US" sz="3000">
              <a:latin typeface="Readex Pro" charset="0"/>
              <a:cs typeface="Readex Pro" charset="0"/>
            </a:endParaRPr>
          </a:p>
        </p:txBody>
      </p:sp>
      <p:cxnSp>
        <p:nvCxnSpPr>
          <p:cNvPr id="7" name="Straight Arrow Connector 6"/>
          <p:cNvCxnSpPr>
            <a:stCxn id="1" idx="5"/>
            <a:endCxn id="6" idx="1"/>
          </p:cNvCxnSpPr>
          <p:nvPr/>
        </p:nvCxnSpPr>
        <p:spPr>
          <a:xfrm>
            <a:off x="2526665" y="3961765"/>
            <a:ext cx="1049020" cy="870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2711450" y="5356860"/>
            <a:ext cx="87687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sz="2500">
                <a:latin typeface="Readex Pro" charset="0"/>
                <a:cs typeface="Readex Pro" charset="0"/>
              </a:rPr>
              <a:t>(*) Nếu hệ thống không tìm được thông tin phù hợp </a:t>
            </a:r>
            <a:endParaRPr lang="en-US" sz="2500">
              <a:latin typeface="Readex Pro" charset="0"/>
              <a:cs typeface="Readex Pro" charset="0"/>
            </a:endParaRPr>
          </a:p>
          <a:p>
            <a:pPr>
              <a:lnSpc>
                <a:spcPct val="120000"/>
              </a:lnSpc>
            </a:pPr>
            <a:r>
              <a:rPr lang="en-US" sz="2500">
                <a:latin typeface="Readex Pro" charset="0"/>
                <a:cs typeface="Readex Pro" charset="0"/>
              </a:rPr>
              <a:t>=&gt; Hệ thống sẽ </a:t>
            </a:r>
            <a:r>
              <a:rPr lang="en-US" sz="2500" b="1">
                <a:latin typeface="Readex Pro" charset="0"/>
                <a:cs typeface="Readex Pro" charset="0"/>
              </a:rPr>
              <a:t>trả lời trung thực</a:t>
            </a:r>
            <a:r>
              <a:rPr lang="en-US" sz="2500">
                <a:latin typeface="Readex Pro" charset="0"/>
                <a:cs typeface="Readex Pro" charset="0"/>
              </a:rPr>
              <a:t>, không “bịa” thông tin.</a:t>
            </a:r>
            <a:r>
              <a:rPr lang="en-US" sz="3000">
                <a:latin typeface="Readex Pro" charset="0"/>
                <a:cs typeface="Readex Pro" charset="0"/>
              </a:rPr>
              <a:t> </a:t>
            </a:r>
            <a:endParaRPr lang="en-US" sz="30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2674620" y="4350385"/>
            <a:ext cx="697865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000" i="1">
                <a:latin typeface="Readex Pro" charset="0"/>
                <a:cs typeface="Readex Pro" charset="0"/>
              </a:rPr>
              <a:t>Nguồn: Mục 5, khoản a của chỉ thị 46/CT-TTg năm 2024</a:t>
            </a:r>
            <a:endParaRPr lang="en-US" altLang="en-US" sz="2000" i="1">
              <a:latin typeface="Readex Pro" charset="0"/>
              <a:cs typeface="Readex Pro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2026920"/>
            <a:ext cx="11934190" cy="21717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38480" y="1196340"/>
            <a:ext cx="1580515" cy="714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700" b="1">
                <a:sym typeface="+mn-ea"/>
              </a:rPr>
              <a:t>Ví dụ:</a:t>
            </a:r>
            <a:endParaRPr lang="en-US" sz="2700" b="1">
              <a:sym typeface="+mn-ea"/>
            </a:endParaRPr>
          </a:p>
        </p:txBody>
      </p:sp>
      <p:sp>
        <p:nvSpPr>
          <p:cNvPr id="611" name="Google Shape;611;g33f212c49e7_1_20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3. </a:t>
            </a: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Mô tả bài toán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7825" y="2745105"/>
            <a:ext cx="39674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40000"/>
              </a:lnSpc>
            </a:pPr>
            <a:r>
              <a:rPr lang="en-US" sz="2000">
                <a:latin typeface="Readex Pro" charset="0"/>
                <a:cs typeface="Readex Pro" charset="0"/>
              </a:rPr>
              <a:t>“Theo chỉ thị 46/CT-TTg năm 2024, hạn chót cho các địa phương chưa in tài liệu hướng dẫn </a:t>
            </a:r>
            <a:r>
              <a:rPr lang="en-US" sz="2000">
                <a:latin typeface="Readex Pro" charset="0"/>
                <a:cs typeface="Readex Pro" charset="0"/>
                <a:sym typeface="+mn-ea"/>
              </a:rPr>
              <a:t>giải pháp</a:t>
            </a:r>
            <a:r>
              <a:rPr lang="en-US" sz="2000">
                <a:latin typeface="Readex Pro" charset="0"/>
                <a:cs typeface="Readex Pro" charset="0"/>
              </a:rPr>
              <a:t> cấp thiết an toàn PCCC là ngày nào?”</a:t>
            </a:r>
            <a:endParaRPr lang="en-US" sz="2000">
              <a:latin typeface="Readex Pro" charset="0"/>
              <a:cs typeface="Readex Pro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88635" y="2006600"/>
            <a:ext cx="6323965" cy="3684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60000"/>
              </a:lnSpc>
            </a:pPr>
            <a:r>
              <a:rPr lang="en-US" altLang="zh-CN" sz="2000">
                <a:latin typeface="Readex Pro" charset="0"/>
                <a:cs typeface="Readex Pro" charset="0"/>
              </a:rPr>
              <a:t> Theo chỉ thị </a:t>
            </a:r>
            <a:r>
              <a:rPr lang="en-US" sz="2000">
                <a:latin typeface="Readex Pro" charset="0"/>
                <a:cs typeface="Readex Pro" charset="0"/>
                <a:sym typeface="+mn-ea"/>
              </a:rPr>
              <a:t>46/CT-TTg năm 2024, hạn chót cho các địa phương chưa in tài liệu hướng dẫn giải pháp cấp thiết an toàn PCCC là ngày 30 tháng 12 năm 2024.</a:t>
            </a:r>
            <a:endParaRPr lang="en-US" sz="2000">
              <a:latin typeface="Readex Pro" charset="0"/>
              <a:cs typeface="Readex Pro" charset="0"/>
              <a:sym typeface="+mn-ea"/>
            </a:endParaRPr>
          </a:p>
          <a:p>
            <a:pPr algn="just">
              <a:lnSpc>
                <a:spcPct val="160000"/>
              </a:lnSpc>
            </a:pPr>
            <a:endParaRPr lang="en-US" altLang="zh-CN" sz="2000">
              <a:latin typeface="Readex Pro" charset="0"/>
              <a:cs typeface="Readex Pro" charset="0"/>
              <a:sym typeface="+mn-ea"/>
            </a:endParaRPr>
          </a:p>
          <a:p>
            <a:pPr algn="just">
              <a:lnSpc>
                <a:spcPct val="160000"/>
              </a:lnSpc>
            </a:pPr>
            <a:r>
              <a:rPr lang="en-US" sz="2000">
                <a:latin typeface="Readex Pro" charset="0"/>
                <a:cs typeface="Readex Pro" charset="0"/>
                <a:sym typeface="+mn-ea"/>
              </a:rPr>
              <a:t>Nguồn: Mục 5, khoản a của chỉ thị 46/CT-TTg </a:t>
            </a:r>
            <a:endParaRPr lang="en-US" sz="2000">
              <a:latin typeface="Readex Pro" charset="0"/>
              <a:cs typeface="Readex Pro" charset="0"/>
              <a:sym typeface="+mn-ea"/>
            </a:endParaRPr>
          </a:p>
          <a:p>
            <a:pPr algn="just">
              <a:lnSpc>
                <a:spcPct val="160000"/>
              </a:lnSpc>
            </a:pPr>
            <a:r>
              <a:rPr lang="en-US" sz="2000">
                <a:latin typeface="Readex Pro" charset="0"/>
                <a:cs typeface="Readex Pro" charset="0"/>
                <a:sym typeface="+mn-ea"/>
              </a:rPr>
              <a:t>ban hành ngày 23 tháng 12 năm 2024</a:t>
            </a:r>
            <a:endParaRPr lang="en-US" altLang="zh-CN" sz="2000">
              <a:latin typeface="Readex Pro" charset="0"/>
              <a:cs typeface="Readex Pro" charset="0"/>
            </a:endParaRPr>
          </a:p>
          <a:p>
            <a:pPr>
              <a:lnSpc>
                <a:spcPct val="120000"/>
              </a:lnSpc>
            </a:pPr>
            <a:endParaRPr lang="en-US" altLang="zh-CN" sz="2000">
              <a:latin typeface="Readex Pro" charset="0"/>
              <a:cs typeface="Readex Pro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1505" y="2122805"/>
            <a:ext cx="3672205" cy="503555"/>
          </a:xfrm>
          <a:prstGeom prst="roundRect">
            <a:avLst/>
          </a:prstGeom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20000"/>
              </a:lnSpc>
            </a:pPr>
            <a:r>
              <a:rPr lang="zh-CN" altLang="en-US" sz="2500" b="1">
                <a:solidFill>
                  <a:schemeClr val="tx1"/>
                </a:solidFill>
                <a:latin typeface="Readex Pro" charset="0"/>
                <a:cs typeface="Readex Pro" charset="0"/>
                <a:sym typeface="+mn-ea"/>
              </a:rPr>
              <a:t>💬</a:t>
            </a:r>
            <a:r>
              <a:rPr lang="en-US" altLang="zh-CN" sz="2500" b="1">
                <a:solidFill>
                  <a:schemeClr val="tx1"/>
                </a:solidFill>
                <a:latin typeface="Readex Pro" charset="0"/>
                <a:cs typeface="Readex Pro" charset="0"/>
                <a:sym typeface="+mn-ea"/>
              </a:rPr>
              <a:t>  </a:t>
            </a:r>
            <a:r>
              <a:rPr lang="en-US" sz="2500" b="1">
                <a:solidFill>
                  <a:schemeClr val="tx1"/>
                </a:solidFill>
                <a:latin typeface="Readex Pro" charset="0"/>
                <a:cs typeface="Readex Pro" charset="0"/>
                <a:sym typeface="+mn-ea"/>
              </a:rPr>
              <a:t>Câu hỏi đầu vào </a:t>
            </a:r>
            <a:endParaRPr lang="en-US" sz="2500" b="1">
              <a:solidFill>
                <a:schemeClr val="tx1"/>
              </a:solidFill>
              <a:latin typeface="Readex Pro" charset="0"/>
              <a:cs typeface="Readex Pro" charset="0"/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32780" y="1402715"/>
            <a:ext cx="3968750" cy="503555"/>
          </a:xfrm>
          <a:prstGeom prst="roundRect">
            <a:avLst/>
          </a:prstGeom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20000"/>
              </a:lnSpc>
            </a:pPr>
            <a:r>
              <a:rPr lang="zh-CN" altLang="en-US" sz="2500" b="1">
                <a:solidFill>
                  <a:schemeClr val="tx1"/>
                </a:solidFill>
                <a:latin typeface="Readex Pro" charset="0"/>
                <a:cs typeface="Readex Pro" charset="0"/>
                <a:sym typeface="+mn-ea"/>
              </a:rPr>
              <a:t>🤖</a:t>
            </a:r>
            <a:r>
              <a:rPr lang="en-US" altLang="zh-CN" sz="2500" b="1">
                <a:solidFill>
                  <a:schemeClr val="tx1"/>
                </a:solidFill>
                <a:latin typeface="Readex Pro" charset="0"/>
                <a:cs typeface="Readex Pro" charset="0"/>
                <a:sym typeface="+mn-ea"/>
              </a:rPr>
              <a:t>  Kết quả mong muốn</a:t>
            </a:r>
            <a:endParaRPr lang="en-US" sz="2500" b="1">
              <a:solidFill>
                <a:schemeClr val="tx1"/>
              </a:solidFill>
              <a:latin typeface="Readex Pro" charset="0"/>
              <a:cs typeface="Readex Pro" charset="0"/>
              <a:sym typeface="+mn-ea"/>
            </a:endParaRPr>
          </a:p>
        </p:txBody>
      </p:sp>
      <p:sp>
        <p:nvSpPr>
          <p:cNvPr id="611" name="Google Shape;611;g33f212c49e7_1_20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3. </a:t>
            </a: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Mô tả bài toán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"/>
          <p:cNvSpPr txBox="1"/>
          <p:nvPr>
            <p:ph type="ctrTitle"/>
          </p:nvPr>
        </p:nvSpPr>
        <p:spPr>
          <a:xfrm>
            <a:off x="479425" y="1916430"/>
            <a:ext cx="11205845" cy="2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</a:pPr>
            <a:r>
              <a:rPr lang="en-US" sz="5500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II. GIẢI PHÁP CHO BÀI TOÁN</a:t>
            </a:r>
            <a:endParaRPr lang="en-US" sz="5500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4"/>
          <p:cNvSpPr txBox="1"/>
          <p:nvPr>
            <p:ph type="title"/>
          </p:nvPr>
        </p:nvSpPr>
        <p:spPr>
          <a:xfrm>
            <a:off x="838200" y="151765"/>
            <a:ext cx="11316335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1. Kỹ thuật RAG (Retrieval-Augmented Generation)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479425" y="1477645"/>
            <a:ext cx="11562715" cy="4768215"/>
          </a:xfrm>
        </p:spPr>
        <p:txBody>
          <a:bodyPr>
            <a:noAutofit/>
          </a:bodyPr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Là kỹ thuật được giới thiệu trong bài báo </a:t>
            </a:r>
            <a:r>
              <a:rPr lang="en-US" sz="2700" i="1"/>
              <a:t>“Retrieval-Augmented Generation for Knowledge-Intensive NLP Tasks”</a:t>
            </a:r>
            <a:r>
              <a:rPr lang="en-US" sz="2700"/>
              <a:t> (Lewis et al., 2020).</a:t>
            </a: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Nhằm nâng cao khả năng của các mô hình ngôn ngữ lớn (LLMs) bằng cách tích hợp chúng với khả năng truy xuất.</a:t>
            </a:r>
            <a:endParaRPr lang="en-US" sz="270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/>
              <a:t>Cung cấp cho các LLM các thông tin chính xác, có trích dẫn rõ ràng.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4"/>
          <p:cNvSpPr txBox="1"/>
          <p:nvPr>
            <p:ph type="title"/>
          </p:nvPr>
        </p:nvSpPr>
        <p:spPr>
          <a:xfrm>
            <a:off x="838200" y="151765"/>
            <a:ext cx="11316335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1. Kỹ thuật RAG (Retrieval-Augmented Generation)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7" name="Group 6"/>
          <p:cNvGrpSpPr/>
          <p:nvPr>
            <p:custDataLst>
              <p:tags r:id="rId1"/>
            </p:custDataLst>
          </p:nvPr>
        </p:nvGrpSpPr>
        <p:grpSpPr>
          <a:xfrm>
            <a:off x="566420" y="1596390"/>
            <a:ext cx="2416175" cy="866775"/>
            <a:chOff x="1662" y="3132"/>
            <a:chExt cx="3805" cy="1474"/>
          </a:xfrm>
        </p:grpSpPr>
        <p:sp>
          <p:nvSpPr>
            <p:cNvPr id="8" name="Rounded Rectangle 7"/>
            <p:cNvSpPr/>
            <p:nvPr>
              <p:custDataLst>
                <p:tags r:id="rId2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>
              <p:custDataLst>
                <p:tags r:id="rId3"/>
              </p:custDataLst>
            </p:nvPr>
          </p:nvSpPr>
          <p:spPr>
            <a:xfrm>
              <a:off x="1809" y="3197"/>
              <a:ext cx="3391" cy="12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Các tài liệu liên quan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10" name="Group 9"/>
          <p:cNvGrpSpPr/>
          <p:nvPr>
            <p:custDataLst>
              <p:tags r:id="rId4"/>
            </p:custDataLst>
          </p:nvPr>
        </p:nvGrpSpPr>
        <p:grpSpPr>
          <a:xfrm>
            <a:off x="553720" y="3206115"/>
            <a:ext cx="2416175" cy="998496"/>
            <a:chOff x="1662" y="3132"/>
            <a:chExt cx="3805" cy="1698"/>
          </a:xfrm>
        </p:grpSpPr>
        <p:sp>
          <p:nvSpPr>
            <p:cNvPr id="11" name="Rounded Rectangle 10"/>
            <p:cNvSpPr/>
            <p:nvPr>
              <p:custDataLst>
                <p:tags r:id="rId5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>
              <p:custDataLst>
                <p:tags r:id="rId6"/>
              </p:custDataLst>
            </p:nvPr>
          </p:nvSpPr>
          <p:spPr>
            <a:xfrm>
              <a:off x="1719" y="3165"/>
              <a:ext cx="3663" cy="16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Câu hỏi từ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người dùng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13" name="Group 12"/>
          <p:cNvGrpSpPr/>
          <p:nvPr>
            <p:custDataLst>
              <p:tags r:id="rId7"/>
            </p:custDataLst>
          </p:nvPr>
        </p:nvGrpSpPr>
        <p:grpSpPr>
          <a:xfrm>
            <a:off x="4852035" y="2486025"/>
            <a:ext cx="2416175" cy="998496"/>
            <a:chOff x="1662" y="3132"/>
            <a:chExt cx="3805" cy="1698"/>
          </a:xfrm>
        </p:grpSpPr>
        <p:sp>
          <p:nvSpPr>
            <p:cNvPr id="14" name="Rounded Rectangle 13"/>
            <p:cNvSpPr/>
            <p:nvPr>
              <p:custDataLst>
                <p:tags r:id="rId8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5" name="Text Box 14"/>
            <p:cNvSpPr txBox="1"/>
            <p:nvPr>
              <p:custDataLst>
                <p:tags r:id="rId9"/>
              </p:custDataLst>
            </p:nvPr>
          </p:nvSpPr>
          <p:spPr>
            <a:xfrm>
              <a:off x="1809" y="3165"/>
              <a:ext cx="3480" cy="16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Mô hình nhúng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18" name="Group 17"/>
          <p:cNvGrpSpPr/>
          <p:nvPr>
            <p:custDataLst>
              <p:tags r:id="rId10"/>
            </p:custDataLst>
          </p:nvPr>
        </p:nvGrpSpPr>
        <p:grpSpPr>
          <a:xfrm>
            <a:off x="9147175" y="1596390"/>
            <a:ext cx="2419350" cy="866775"/>
            <a:chOff x="1662" y="3132"/>
            <a:chExt cx="3810" cy="1474"/>
          </a:xfrm>
        </p:grpSpPr>
        <p:sp>
          <p:nvSpPr>
            <p:cNvPr id="19" name="Rounded Rectangle 18"/>
            <p:cNvSpPr/>
            <p:nvPr>
              <p:custDataLst>
                <p:tags r:id="rId11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" name="Text Box 19"/>
            <p:cNvSpPr txBox="1"/>
            <p:nvPr>
              <p:custDataLst>
                <p:tags r:id="rId12"/>
              </p:custDataLst>
            </p:nvPr>
          </p:nvSpPr>
          <p:spPr>
            <a:xfrm>
              <a:off x="1809" y="3198"/>
              <a:ext cx="3663" cy="12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Cơ sở dữ liệu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vector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sp>
        <p:nvSpPr>
          <p:cNvPr id="23" name="Text Box 22"/>
          <p:cNvSpPr txBox="1"/>
          <p:nvPr>
            <p:custDataLst>
              <p:tags r:id="rId13"/>
            </p:custDataLst>
          </p:nvPr>
        </p:nvSpPr>
        <p:spPr>
          <a:xfrm>
            <a:off x="7602855" y="1744345"/>
            <a:ext cx="1164590" cy="682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  <a:sym typeface="+mn-ea"/>
              </a:rPr>
              <a:t>(2)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  <a:sym typeface="+mn-ea"/>
              </a:rPr>
              <a:t>Lập chỉ mục</a:t>
            </a:r>
            <a:endParaRPr lang="en-US" sz="1500">
              <a:latin typeface="Readex Pro" charset="0"/>
              <a:cs typeface="Readex Pro" charset="0"/>
            </a:endParaRPr>
          </a:p>
        </p:txBody>
      </p:sp>
      <p:cxnSp>
        <p:nvCxnSpPr>
          <p:cNvPr id="27" name="Straight Connector 26"/>
          <p:cNvCxnSpPr/>
          <p:nvPr>
            <p:custDataLst>
              <p:tags r:id="rId14"/>
            </p:custDataLst>
          </p:nvPr>
        </p:nvCxnSpPr>
        <p:spPr>
          <a:xfrm>
            <a:off x="2992755" y="1753870"/>
            <a:ext cx="2232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>
            <p:custDataLst>
              <p:tags r:id="rId15"/>
            </p:custDataLst>
          </p:nvPr>
        </p:nvCxnSpPr>
        <p:spPr>
          <a:xfrm>
            <a:off x="5224780" y="1740535"/>
            <a:ext cx="0" cy="744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>
            <p:custDataLst>
              <p:tags r:id="rId16"/>
            </p:custDataLst>
          </p:nvPr>
        </p:nvSpPr>
        <p:spPr>
          <a:xfrm>
            <a:off x="3510280" y="1763395"/>
            <a:ext cx="1133475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</a:rPr>
              <a:t>(1)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</a:rPr>
              <a:t>Mã hóa</a:t>
            </a:r>
            <a:endParaRPr lang="en-US" sz="1500">
              <a:latin typeface="Readex Pro" charset="0"/>
              <a:cs typeface="Readex Pro" charset="0"/>
            </a:endParaRPr>
          </a:p>
        </p:txBody>
      </p:sp>
      <p:cxnSp>
        <p:nvCxnSpPr>
          <p:cNvPr id="30" name="Straight Connector 29"/>
          <p:cNvCxnSpPr/>
          <p:nvPr>
            <p:custDataLst>
              <p:tags r:id="rId17"/>
            </p:custDataLst>
          </p:nvPr>
        </p:nvCxnSpPr>
        <p:spPr>
          <a:xfrm>
            <a:off x="6895465" y="1763395"/>
            <a:ext cx="0" cy="708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>
            <p:custDataLst>
              <p:tags r:id="rId18"/>
            </p:custDataLst>
          </p:nvPr>
        </p:nvCxnSpPr>
        <p:spPr>
          <a:xfrm>
            <a:off x="6883400" y="1744345"/>
            <a:ext cx="2263775" cy="69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>
            <p:custDataLst>
              <p:tags r:id="rId19"/>
            </p:custDataLst>
          </p:nvPr>
        </p:nvCxnSpPr>
        <p:spPr>
          <a:xfrm>
            <a:off x="2973070" y="3839845"/>
            <a:ext cx="2232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>
            <p:custDataLst>
              <p:tags r:id="rId20"/>
            </p:custDataLst>
          </p:nvPr>
        </p:nvCxnSpPr>
        <p:spPr>
          <a:xfrm flipV="1">
            <a:off x="5196205" y="3335655"/>
            <a:ext cx="0" cy="5041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>
            <p:custDataLst>
              <p:tags r:id="rId21"/>
            </p:custDataLst>
          </p:nvPr>
        </p:nvSpPr>
        <p:spPr>
          <a:xfrm>
            <a:off x="3518535" y="3839845"/>
            <a:ext cx="1125220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  <a:sym typeface="+mn-ea"/>
              </a:rPr>
              <a:t>(3)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  <a:sym typeface="+mn-ea"/>
              </a:rPr>
              <a:t>Mã hóa</a:t>
            </a:r>
            <a:endParaRPr lang="en-US" sz="2000">
              <a:latin typeface="Readex Pro" charset="0"/>
              <a:cs typeface="Readex Pro" charset="0"/>
            </a:endParaRPr>
          </a:p>
          <a:p>
            <a:endParaRPr lang="en-US" sz="2000">
              <a:latin typeface="Readex Pro" charset="0"/>
              <a:cs typeface="Readex Pro" charset="0"/>
            </a:endParaRPr>
          </a:p>
        </p:txBody>
      </p:sp>
      <p:cxnSp>
        <p:nvCxnSpPr>
          <p:cNvPr id="36" name="Curved Connector 35"/>
          <p:cNvCxnSpPr/>
          <p:nvPr>
            <p:custDataLst>
              <p:tags r:id="rId22"/>
            </p:custDataLst>
          </p:nvPr>
        </p:nvCxnSpPr>
        <p:spPr>
          <a:xfrm flipV="1">
            <a:off x="7273290" y="2471420"/>
            <a:ext cx="2018030" cy="746125"/>
          </a:xfrm>
          <a:prstGeom prst="curvedConnector3">
            <a:avLst>
              <a:gd name="adj1" fmla="val 989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>
            <p:custDataLst>
              <p:tags r:id="rId23"/>
            </p:custDataLst>
          </p:nvPr>
        </p:nvSpPr>
        <p:spPr>
          <a:xfrm>
            <a:off x="7821930" y="3091180"/>
            <a:ext cx="1269365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</a:rPr>
              <a:t>(4)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</a:rPr>
              <a:t>Tìm kiếm tương đồng</a:t>
            </a:r>
            <a:endParaRPr lang="en-US" sz="1500">
              <a:latin typeface="Readex Pro" charset="0"/>
              <a:cs typeface="Readex Pro" charset="0"/>
            </a:endParaRPr>
          </a:p>
        </p:txBody>
      </p:sp>
      <p:grpSp>
        <p:nvGrpSpPr>
          <p:cNvPr id="38" name="Group 37"/>
          <p:cNvGrpSpPr/>
          <p:nvPr>
            <p:custDataLst>
              <p:tags r:id="rId24"/>
            </p:custDataLst>
          </p:nvPr>
        </p:nvGrpSpPr>
        <p:grpSpPr>
          <a:xfrm>
            <a:off x="9147175" y="4343090"/>
            <a:ext cx="2416175" cy="1791586"/>
            <a:chOff x="1662" y="3232"/>
            <a:chExt cx="3805" cy="1563"/>
          </a:xfrm>
        </p:grpSpPr>
        <p:sp>
          <p:nvSpPr>
            <p:cNvPr id="39" name="Rounded Rectangle 38"/>
            <p:cNvSpPr/>
            <p:nvPr>
              <p:custDataLst>
                <p:tags r:id="rId25"/>
              </p:custDataLst>
            </p:nvPr>
          </p:nvSpPr>
          <p:spPr>
            <a:xfrm>
              <a:off x="1662" y="32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Text Box 39"/>
            <p:cNvSpPr txBox="1"/>
            <p:nvPr>
              <p:custDataLst>
                <p:tags r:id="rId26"/>
              </p:custDataLst>
            </p:nvPr>
          </p:nvSpPr>
          <p:spPr>
            <a:xfrm>
              <a:off x="1809" y="3232"/>
              <a:ext cx="3480" cy="15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Ngữ cảnh đã trích xuất + câu hỏi từ người dùng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42" name="Straight Arrow Connector 41"/>
          <p:cNvCxnSpPr/>
          <p:nvPr>
            <p:custDataLst>
              <p:tags r:id="rId27"/>
            </p:custDataLst>
          </p:nvPr>
        </p:nvCxnSpPr>
        <p:spPr>
          <a:xfrm>
            <a:off x="10355580" y="2463165"/>
            <a:ext cx="0" cy="18802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>
            <p:custDataLst>
              <p:tags r:id="rId28"/>
            </p:custDataLst>
          </p:nvPr>
        </p:nvSpPr>
        <p:spPr>
          <a:xfrm>
            <a:off x="10290810" y="3018790"/>
            <a:ext cx="1106805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</a:rPr>
              <a:t>(5)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</a:rPr>
              <a:t>Tài liệu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</a:rPr>
              <a:t>tương tự</a:t>
            </a:r>
            <a:endParaRPr lang="en-US" sz="1500">
              <a:latin typeface="Readex Pro" charset="0"/>
              <a:cs typeface="Readex Pro" charset="0"/>
            </a:endParaRPr>
          </a:p>
        </p:txBody>
      </p:sp>
      <p:grpSp>
        <p:nvGrpSpPr>
          <p:cNvPr id="44" name="Group 43"/>
          <p:cNvGrpSpPr/>
          <p:nvPr>
            <p:custDataLst>
              <p:tags r:id="rId29"/>
            </p:custDataLst>
          </p:nvPr>
        </p:nvGrpSpPr>
        <p:grpSpPr>
          <a:xfrm>
            <a:off x="553720" y="4915535"/>
            <a:ext cx="2416175" cy="1036131"/>
            <a:chOff x="1662" y="3132"/>
            <a:chExt cx="3805" cy="1762"/>
          </a:xfrm>
        </p:grpSpPr>
        <p:sp>
          <p:nvSpPr>
            <p:cNvPr id="45" name="Rounded Rectangle 44"/>
            <p:cNvSpPr/>
            <p:nvPr>
              <p:custDataLst>
                <p:tags r:id="rId30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6" name="Text Box 45"/>
            <p:cNvSpPr txBox="1"/>
            <p:nvPr>
              <p:custDataLst>
                <p:tags r:id="rId31"/>
              </p:custDataLst>
            </p:nvPr>
          </p:nvSpPr>
          <p:spPr>
            <a:xfrm>
              <a:off x="1809" y="3229"/>
              <a:ext cx="3480" cy="16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Câu trả lời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cuối cùng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47" name="Straight Arrow Connector 46"/>
          <p:cNvCxnSpPr/>
          <p:nvPr>
            <p:custDataLst>
              <p:tags r:id="rId32"/>
            </p:custDataLst>
          </p:nvPr>
        </p:nvCxnSpPr>
        <p:spPr>
          <a:xfrm flipH="1">
            <a:off x="7778750" y="5187950"/>
            <a:ext cx="1368425" cy="1143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Picture 4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38345" y="4972685"/>
            <a:ext cx="3239770" cy="802005"/>
          </a:xfrm>
          <a:prstGeom prst="rect">
            <a:avLst/>
          </a:prstGeom>
        </p:spPr>
      </p:pic>
      <p:cxnSp>
        <p:nvCxnSpPr>
          <p:cNvPr id="53" name="Straight Arrow Connector 52"/>
          <p:cNvCxnSpPr/>
          <p:nvPr>
            <p:custDataLst>
              <p:tags r:id="rId34"/>
            </p:custDataLst>
          </p:nvPr>
        </p:nvCxnSpPr>
        <p:spPr>
          <a:xfrm flipH="1">
            <a:off x="2954655" y="5180965"/>
            <a:ext cx="158432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Text Box 53"/>
          <p:cNvSpPr txBox="1"/>
          <p:nvPr>
            <p:custDataLst>
              <p:tags r:id="rId35"/>
            </p:custDataLst>
          </p:nvPr>
        </p:nvSpPr>
        <p:spPr>
          <a:xfrm>
            <a:off x="7942580" y="5279390"/>
            <a:ext cx="1133475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</a:rPr>
              <a:t>(6)</a:t>
            </a:r>
            <a:endParaRPr lang="en-US" sz="1500">
              <a:latin typeface="Readex Pro" charset="0"/>
              <a:cs typeface="Readex Pro" charset="0"/>
            </a:endParaRPr>
          </a:p>
          <a:p>
            <a:pPr algn="ctr"/>
            <a:r>
              <a:rPr lang="en-US" sz="1500">
                <a:latin typeface="Readex Pro" charset="0"/>
                <a:cs typeface="Readex Pro" charset="0"/>
              </a:rPr>
              <a:t>Prompt</a:t>
            </a:r>
            <a:endParaRPr lang="en-US" sz="1500">
              <a:latin typeface="Readex Pro" charset="0"/>
              <a:cs typeface="Readex Pro" charset="0"/>
            </a:endParaRPr>
          </a:p>
        </p:txBody>
      </p:sp>
      <p:sp>
        <p:nvSpPr>
          <p:cNvPr id="55" name="Text Box 54"/>
          <p:cNvSpPr txBox="1"/>
          <p:nvPr>
            <p:custDataLst>
              <p:tags r:id="rId36"/>
            </p:custDataLst>
          </p:nvPr>
        </p:nvSpPr>
        <p:spPr>
          <a:xfrm>
            <a:off x="3187700" y="5276215"/>
            <a:ext cx="113347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500">
                <a:latin typeface="Readex Pro" charset="0"/>
                <a:cs typeface="Readex Pro" charset="0"/>
              </a:rPr>
              <a:t>(7)</a:t>
            </a:r>
            <a:endParaRPr lang="en-US" sz="15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(*) Quy trình của hệ thống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3" name="Group 2"/>
          <p:cNvGrpSpPr/>
          <p:nvPr>
            <p:custDataLst>
              <p:tags r:id="rId1"/>
            </p:custDataLst>
          </p:nvPr>
        </p:nvGrpSpPr>
        <p:grpSpPr>
          <a:xfrm>
            <a:off x="1771015" y="1913378"/>
            <a:ext cx="2414905" cy="935744"/>
            <a:chOff x="1662" y="3132"/>
            <a:chExt cx="3804" cy="1474"/>
          </a:xfrm>
        </p:grpSpPr>
        <p:sp>
          <p:nvSpPr>
            <p:cNvPr id="1" name="Rounded Rectangle 0"/>
            <p:cNvSpPr/>
            <p:nvPr>
              <p:custDataLst>
                <p:tags r:id="rId2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3"/>
              </p:custDataLst>
            </p:nvPr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Thu thập 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dữ liệu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10" name="Group 9"/>
          <p:cNvGrpSpPr/>
          <p:nvPr>
            <p:custDataLst>
              <p:tags r:id="rId4"/>
            </p:custDataLst>
          </p:nvPr>
        </p:nvGrpSpPr>
        <p:grpSpPr>
          <a:xfrm>
            <a:off x="7823835" y="1912108"/>
            <a:ext cx="2415540" cy="935744"/>
            <a:chOff x="1662" y="3132"/>
            <a:chExt cx="3805" cy="1474"/>
          </a:xfrm>
        </p:grpSpPr>
        <p:sp>
          <p:nvSpPr>
            <p:cNvPr id="11" name="Rounded Rectangle 10"/>
            <p:cNvSpPr/>
            <p:nvPr>
              <p:custDataLst>
                <p:tags r:id="rId5"/>
              </p:custDataLst>
            </p:nvPr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>
              <p:custDataLst>
                <p:tags r:id="rId6"/>
              </p:custDataLst>
            </p:nvPr>
          </p:nvSpPr>
          <p:spPr>
            <a:xfrm>
              <a:off x="1887" y="3229"/>
              <a:ext cx="3335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Tiền xử lý 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dữ liệu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47" name="Straight Arrow Connector 46"/>
          <p:cNvCxnSpPr>
            <a:stCxn id="1" idx="3"/>
            <a:endCxn id="11" idx="1"/>
          </p:cNvCxnSpPr>
          <p:nvPr>
            <p:custDataLst>
              <p:tags r:id="rId7"/>
            </p:custDataLst>
          </p:nvPr>
        </p:nvCxnSpPr>
        <p:spPr>
          <a:xfrm flipV="1">
            <a:off x="4186555" y="2379980"/>
            <a:ext cx="3637280" cy="127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2"/>
            <a:endCxn id="17" idx="0"/>
          </p:cNvCxnSpPr>
          <p:nvPr>
            <p:custDataLst>
              <p:tags r:id="rId8"/>
            </p:custDataLst>
          </p:nvPr>
        </p:nvCxnSpPr>
        <p:spPr>
          <a:xfrm>
            <a:off x="9031605" y="2847975"/>
            <a:ext cx="36830" cy="198437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>
            <p:custDataLst>
              <p:tags r:id="rId9"/>
            </p:custDataLst>
          </p:nvPr>
        </p:nvGrpSpPr>
        <p:grpSpPr>
          <a:xfrm>
            <a:off x="7259955" y="4832350"/>
            <a:ext cx="3616325" cy="1135352"/>
            <a:chOff x="1662" y="3132"/>
            <a:chExt cx="5696" cy="1474"/>
          </a:xfrm>
        </p:grpSpPr>
        <p:sp>
          <p:nvSpPr>
            <p:cNvPr id="17" name="Rounded Rectangle 16"/>
            <p:cNvSpPr/>
            <p:nvPr>
              <p:custDataLst>
                <p:tags r:id="rId10"/>
              </p:custDataLst>
            </p:nvPr>
          </p:nvSpPr>
          <p:spPr>
            <a:xfrm>
              <a:off x="1662" y="3132"/>
              <a:ext cx="5696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" name="Text Box 17"/>
            <p:cNvSpPr txBox="1"/>
            <p:nvPr>
              <p:custDataLst>
                <p:tags r:id="rId11"/>
              </p:custDataLst>
            </p:nvPr>
          </p:nvSpPr>
          <p:spPr>
            <a:xfrm>
              <a:off x="1809" y="3335"/>
              <a:ext cx="5276" cy="11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Xử lý truy vấn và sinh câu trả lời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20" name="Group 19"/>
          <p:cNvGrpSpPr/>
          <p:nvPr>
            <p:custDataLst>
              <p:tags r:id="rId12"/>
            </p:custDataLst>
          </p:nvPr>
        </p:nvGrpSpPr>
        <p:grpSpPr>
          <a:xfrm>
            <a:off x="1146175" y="4867275"/>
            <a:ext cx="3190875" cy="1096645"/>
            <a:chOff x="441" y="3132"/>
            <a:chExt cx="5026" cy="1474"/>
          </a:xfrm>
        </p:grpSpPr>
        <p:sp>
          <p:nvSpPr>
            <p:cNvPr id="21" name="Rounded Rectangle 20"/>
            <p:cNvSpPr/>
            <p:nvPr>
              <p:custDataLst>
                <p:tags r:id="rId13"/>
              </p:custDataLst>
            </p:nvPr>
          </p:nvSpPr>
          <p:spPr>
            <a:xfrm>
              <a:off x="441" y="3132"/>
              <a:ext cx="5026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" name="Text Box 21"/>
            <p:cNvSpPr txBox="1"/>
            <p:nvPr>
              <p:custDataLst>
                <p:tags r:id="rId14"/>
              </p:custDataLst>
            </p:nvPr>
          </p:nvSpPr>
          <p:spPr>
            <a:xfrm>
              <a:off x="525" y="3324"/>
              <a:ext cx="4697" cy="12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Đánh giá và triển khai WebApp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23" name="Straight Arrow Connector 22"/>
          <p:cNvCxnSpPr>
            <a:stCxn id="17" idx="1"/>
            <a:endCxn id="21" idx="3"/>
          </p:cNvCxnSpPr>
          <p:nvPr>
            <p:custDataLst>
              <p:tags r:id="rId15"/>
            </p:custDataLst>
          </p:nvPr>
        </p:nvCxnSpPr>
        <p:spPr>
          <a:xfrm flipH="1">
            <a:off x="4337050" y="5400040"/>
            <a:ext cx="2922905" cy="1587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2. Thu thập dữ liệu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479425" y="993775"/>
            <a:ext cx="11562715" cy="5432425"/>
          </a:xfrm>
        </p:spPr>
        <p:txBody>
          <a:bodyPr>
            <a:noAutofit/>
          </a:bodyPr>
          <a:p>
            <a:pPr marL="6858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Đối tượng: Văn bản loại “</a:t>
            </a:r>
            <a:r>
              <a:rPr lang="en-US" sz="2700" i="1"/>
              <a:t>Chỉ thị”</a:t>
            </a:r>
            <a:r>
              <a:rPr lang="en-US" sz="2700"/>
              <a:t> </a:t>
            </a:r>
            <a:endParaRPr lang="en-US" sz="2700"/>
          </a:p>
          <a:p>
            <a:pPr marL="6858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Nguồn dữ liệu: Trang Công báo điện tử (congbao.chinhphu.vn)</a:t>
            </a:r>
            <a:endParaRPr lang="en-US" sz="2700"/>
          </a:p>
          <a:p>
            <a:pPr marL="6858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Số lượng: 37 tập tin.</a:t>
            </a:r>
            <a:endParaRPr lang="en-US" sz="2700"/>
          </a:p>
          <a:p>
            <a:pPr marL="6858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Đặc điểm:</a:t>
            </a:r>
            <a:endParaRPr lang="en-US" sz="2700"/>
          </a:p>
          <a:p>
            <a:pPr marL="1143000" lvl="1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Dạng PDF chính thức do Chính phủ công bố</a:t>
            </a:r>
            <a:endParaRPr lang="en-US" sz="2700"/>
          </a:p>
          <a:p>
            <a:pPr marL="1143000" lvl="1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Bao gồm các tập tin dạng văn bản thô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2. Thu thập dữ liệu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479425" y="1121410"/>
            <a:ext cx="11562715" cy="5131435"/>
          </a:xfrm>
        </p:spPr>
        <p:txBody>
          <a:bodyPr>
            <a:noAutofit/>
          </a:bodyPr>
          <a:p>
            <a:pPr marL="6858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Sau khi qua các bước cào dữ liệu từ trang Công báo:</a:t>
            </a:r>
            <a:endParaRPr lang="en-US" sz="2700"/>
          </a:p>
          <a:p>
            <a:pPr marL="1143000" lvl="1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Lưu tập tin PDF gốc của chỉ thị.</a:t>
            </a:r>
            <a:endParaRPr lang="en-US" sz="2700"/>
          </a:p>
          <a:p>
            <a:pPr marL="1143000" lvl="1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700"/>
              <a:t>Lưu siêu dữ liệu (metadata) đi kèm:</a:t>
            </a:r>
            <a:endParaRPr lang="en-US" sz="2700"/>
          </a:p>
          <a:p>
            <a:pPr marL="1600200" lvl="2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250">
                <a:sym typeface="+mn-ea"/>
              </a:rPr>
              <a:t>Số hiệu chỉ thị.</a:t>
            </a:r>
            <a:endParaRPr lang="en-US" sz="2250"/>
          </a:p>
          <a:p>
            <a:pPr marL="1600200" lvl="2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250">
                <a:sym typeface="+mn-ea"/>
              </a:rPr>
              <a:t>Tên chỉ thị.</a:t>
            </a:r>
            <a:endParaRPr lang="en-US" sz="2250"/>
          </a:p>
          <a:p>
            <a:pPr marL="1600200" lvl="2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250">
                <a:sym typeface="+mn-ea"/>
              </a:rPr>
              <a:t>Ngày ban hành, ngày hiệu lực</a:t>
            </a:r>
            <a:endParaRPr lang="en-US" sz="2250"/>
          </a:p>
          <a:p>
            <a:pPr marL="1600200" lvl="2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250">
                <a:sym typeface="+mn-ea"/>
              </a:rPr>
              <a:t>Cơ quan ban hành.</a:t>
            </a:r>
            <a:endParaRPr lang="en-US" sz="2250">
              <a:sym typeface="+mn-ea"/>
            </a:endParaRPr>
          </a:p>
          <a:p>
            <a:pPr marL="1600200" lvl="2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250">
                <a:sym typeface="+mn-ea"/>
              </a:rPr>
              <a:t>Nguồn: Nơi tải văn bản</a:t>
            </a:r>
            <a:endParaRPr lang="en-US" sz="2250"/>
          </a:p>
          <a:p>
            <a:pPr marL="685800" lvl="1" indent="0">
              <a:lnSpc>
                <a:spcPct val="160000"/>
              </a:lnSpc>
              <a:buFont typeface="Arial" panose="020B0604020202020204" pitchFamily="34" charset="0"/>
            </a:pPr>
            <a:endParaRPr lang="en-US" sz="2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3. Tiền xử lý dữ liệu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2770" y="1896110"/>
            <a:ext cx="2415540" cy="935990"/>
            <a:chOff x="1662" y="3132"/>
            <a:chExt cx="3804" cy="1474"/>
          </a:xfrm>
        </p:grpSpPr>
        <p:sp>
          <p:nvSpPr>
            <p:cNvPr id="1" name="Rounded Rectangle 0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Trích xuất 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văn bản thô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871720" y="1896110"/>
            <a:ext cx="2416175" cy="935990"/>
            <a:chOff x="1662" y="3132"/>
            <a:chExt cx="3805" cy="1474"/>
          </a:xfrm>
        </p:grpSpPr>
        <p:sp>
          <p:nvSpPr>
            <p:cNvPr id="5" name="Rounded Rectangle 4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1809" y="3229"/>
              <a:ext cx="3413" cy="12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Làm sạch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văn bản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7" name="Straight Arrow Connector 6"/>
          <p:cNvCxnSpPr>
            <a:endCxn id="5" idx="1"/>
          </p:cNvCxnSpPr>
          <p:nvPr/>
        </p:nvCxnSpPr>
        <p:spPr>
          <a:xfrm>
            <a:off x="2988945" y="2364105"/>
            <a:ext cx="18827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9552305" y="1877060"/>
            <a:ext cx="2416175" cy="935990"/>
            <a:chOff x="1662" y="3132"/>
            <a:chExt cx="3805" cy="1474"/>
          </a:xfrm>
        </p:grpSpPr>
        <p:sp>
          <p:nvSpPr>
            <p:cNvPr id="11" name="Rounded Rectangle 10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809" y="3229"/>
              <a:ext cx="3413" cy="12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Bóc tách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siêu dữ liệu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13" name="Straight Arrow Connector 12"/>
          <p:cNvCxnSpPr>
            <a:stCxn id="5" idx="3"/>
            <a:endCxn id="11" idx="1"/>
          </p:cNvCxnSpPr>
          <p:nvPr/>
        </p:nvCxnSpPr>
        <p:spPr>
          <a:xfrm flipV="1">
            <a:off x="7287895" y="2345055"/>
            <a:ext cx="2264410" cy="190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9552305" y="4653280"/>
            <a:ext cx="2416175" cy="935990"/>
            <a:chOff x="1662" y="3132"/>
            <a:chExt cx="3805" cy="1474"/>
          </a:xfrm>
        </p:grpSpPr>
        <p:sp>
          <p:nvSpPr>
            <p:cNvPr id="15" name="Rounded Rectangle 14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809" y="3229"/>
              <a:ext cx="3413" cy="12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Chia đoạn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văn bản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17" name="Straight Arrow Connector 16"/>
          <p:cNvCxnSpPr>
            <a:stCxn id="11" idx="2"/>
            <a:endCxn id="15" idx="0"/>
          </p:cNvCxnSpPr>
          <p:nvPr/>
        </p:nvCxnSpPr>
        <p:spPr>
          <a:xfrm>
            <a:off x="10760710" y="2813050"/>
            <a:ext cx="0" cy="184023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5" idx="1"/>
            <a:endCxn id="20" idx="3"/>
          </p:cNvCxnSpPr>
          <p:nvPr/>
        </p:nvCxnSpPr>
        <p:spPr>
          <a:xfrm flipH="1" flipV="1">
            <a:off x="8486140" y="5114290"/>
            <a:ext cx="1066165" cy="698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4256257" y="4695238"/>
            <a:ext cx="4229735" cy="838000"/>
            <a:chOff x="1691" y="3424"/>
            <a:chExt cx="3805" cy="896"/>
          </a:xfrm>
        </p:grpSpPr>
        <p:sp>
          <p:nvSpPr>
            <p:cNvPr id="20" name="Rounded Rectangle 19"/>
            <p:cNvSpPr/>
            <p:nvPr/>
          </p:nvSpPr>
          <p:spPr>
            <a:xfrm>
              <a:off x="1691" y="3424"/>
              <a:ext cx="3805" cy="896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1809" y="3509"/>
              <a:ext cx="3413" cy="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Tạo chunk ngữ nghĩa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35280" y="4422140"/>
            <a:ext cx="2959100" cy="1403350"/>
            <a:chOff x="1662" y="3132"/>
            <a:chExt cx="4534" cy="1474"/>
          </a:xfrm>
        </p:grpSpPr>
        <p:sp>
          <p:nvSpPr>
            <p:cNvPr id="24" name="Rounded Rectangle 23"/>
            <p:cNvSpPr/>
            <p:nvPr/>
          </p:nvSpPr>
          <p:spPr>
            <a:xfrm>
              <a:off x="1662" y="3132"/>
              <a:ext cx="4534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809" y="3229"/>
              <a:ext cx="4226" cy="12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Nhúng vector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và lưu trữ vào ChromaDB 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26" name="Straight Arrow Connector 25"/>
          <p:cNvCxnSpPr>
            <a:stCxn id="20" idx="1"/>
            <a:endCxn id="24" idx="3"/>
          </p:cNvCxnSpPr>
          <p:nvPr/>
        </p:nvCxnSpPr>
        <p:spPr>
          <a:xfrm flipH="1">
            <a:off x="3294380" y="5114290"/>
            <a:ext cx="96202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4. Xử lý truy vấn và sinh câu trả lời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41935" y="1854835"/>
            <a:ext cx="2415540" cy="935990"/>
            <a:chOff x="1662" y="3132"/>
            <a:chExt cx="3804" cy="1474"/>
          </a:xfrm>
        </p:grpSpPr>
        <p:sp>
          <p:nvSpPr>
            <p:cNvPr id="4" name="Rounded Rectangle 3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💬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 </a:t>
              </a:r>
              <a:r>
                <a:rPr lang="en-US" sz="2500">
                  <a:latin typeface="Readex Pro" charset="0"/>
                  <a:cs typeface="Readex Pro" charset="0"/>
                </a:rPr>
                <a:t>Câu hỏi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người dùng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258945" y="1612900"/>
            <a:ext cx="3051810" cy="1336040"/>
            <a:chOff x="1662" y="3132"/>
            <a:chExt cx="3805" cy="1474"/>
          </a:xfrm>
        </p:grpSpPr>
        <p:sp>
          <p:nvSpPr>
            <p:cNvPr id="8" name="Rounded Rectangle 7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731" y="3261"/>
              <a:ext cx="3491" cy="1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🔍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</a:t>
              </a:r>
              <a:r>
                <a:rPr lang="en-US" sz="2500">
                  <a:latin typeface="Readex Pro" charset="0"/>
                  <a:cs typeface="Readex Pro" charset="0"/>
                </a:rPr>
                <a:t>Retriever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(ChromaDB + BM25)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2639695" y="2402205"/>
            <a:ext cx="16363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10755" y="2280920"/>
            <a:ext cx="168402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1991360" y="3885565"/>
            <a:ext cx="5975985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Chuẩn hóa câu hỏi</a:t>
            </a:r>
            <a:endParaRPr lang="en-US" sz="2500">
              <a:latin typeface="Readex Pro" charset="0"/>
              <a:cs typeface="Readex Pro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Dùng mô hình text-embedding-004 -&gt; biến câu hỏi thành ngữ nghĩa</a:t>
            </a:r>
            <a:endParaRPr lang="en-US" sz="2500">
              <a:latin typeface="Readex Pro" charset="0"/>
              <a:cs typeface="Readex Pro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5145" y="3213100"/>
            <a:ext cx="0" cy="161290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5145" y="4806315"/>
            <a:ext cx="116268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8994775" y="1826260"/>
            <a:ext cx="2995930" cy="935990"/>
            <a:chOff x="1662" y="3132"/>
            <a:chExt cx="3804" cy="1474"/>
          </a:xfrm>
        </p:grpSpPr>
        <p:sp>
          <p:nvSpPr>
            <p:cNvPr id="2" name="Rounded Rectangle 1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🖥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Sinh câu trả lời và hiển thị</a:t>
              </a:r>
              <a:endParaRPr lang="en-US" altLang="zh-CN" sz="2500">
                <a:latin typeface="Readex Pro" charset="0"/>
                <a:cs typeface="Readex Pro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4. Xử lý truy vấn và sinh câu trả lời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41935" y="1854835"/>
            <a:ext cx="2415540" cy="935990"/>
            <a:chOff x="1662" y="3132"/>
            <a:chExt cx="3804" cy="1474"/>
          </a:xfrm>
        </p:grpSpPr>
        <p:sp>
          <p:nvSpPr>
            <p:cNvPr id="4" name="Rounded Rectangle 3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💬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 </a:t>
              </a:r>
              <a:r>
                <a:rPr lang="en-US" sz="2500">
                  <a:latin typeface="Readex Pro" charset="0"/>
                  <a:cs typeface="Readex Pro" charset="0"/>
                </a:rPr>
                <a:t>Câu hỏi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người dùng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258945" y="1612900"/>
            <a:ext cx="3051810" cy="1336040"/>
            <a:chOff x="1662" y="3132"/>
            <a:chExt cx="3805" cy="1474"/>
          </a:xfrm>
        </p:grpSpPr>
        <p:sp>
          <p:nvSpPr>
            <p:cNvPr id="8" name="Rounded Rectangle 7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731" y="3261"/>
              <a:ext cx="3491" cy="1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🔍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</a:t>
              </a:r>
              <a:r>
                <a:rPr lang="en-US" sz="2500">
                  <a:latin typeface="Readex Pro" charset="0"/>
                  <a:cs typeface="Readex Pro" charset="0"/>
                </a:rPr>
                <a:t>Retriever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(ChromaDB + BM25)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2639695" y="2402205"/>
            <a:ext cx="16363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10755" y="2280920"/>
            <a:ext cx="168402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5688330" y="4004945"/>
            <a:ext cx="6426200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Hybrid Search = Vector Search + BM25</a:t>
            </a:r>
            <a:endParaRPr lang="en-US" sz="2500">
              <a:latin typeface="Readex Pro" charset="0"/>
              <a:cs typeface="Readex Pro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Kết hợp + loại trùng lặp</a:t>
            </a:r>
            <a:endParaRPr lang="en-US" sz="2500">
              <a:latin typeface="Readex Pro" charset="0"/>
              <a:cs typeface="Readex Pro" charset="0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sz="2500">
                <a:latin typeface="Readex Pro" charset="0"/>
                <a:cs typeface="Readex Pro" charset="0"/>
              </a:rPr>
              <a:t>=&gt; Tập ngữ cảnh chất lượng cao</a:t>
            </a:r>
            <a:endParaRPr lang="en-US" sz="2500">
              <a:latin typeface="Readex Pro" charset="0"/>
              <a:cs typeface="Readex Pro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484370" y="3213100"/>
            <a:ext cx="0" cy="161226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484370" y="4806315"/>
            <a:ext cx="103568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8994775" y="1826260"/>
            <a:ext cx="2995930" cy="935990"/>
            <a:chOff x="1662" y="3132"/>
            <a:chExt cx="3804" cy="1474"/>
          </a:xfrm>
        </p:grpSpPr>
        <p:sp>
          <p:nvSpPr>
            <p:cNvPr id="6" name="Rounded Rectangle 5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🖥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Sinh câu trả lời và hiển thị</a:t>
              </a:r>
              <a:endParaRPr lang="en-US" altLang="zh-CN" sz="2500">
                <a:latin typeface="Readex Pro" charset="0"/>
                <a:cs typeface="Readex Pro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4. Xử lý truy vấn và sinh câu trả lời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41935" y="1854835"/>
            <a:ext cx="2415540" cy="935990"/>
            <a:chOff x="1662" y="3132"/>
            <a:chExt cx="3804" cy="1474"/>
          </a:xfrm>
        </p:grpSpPr>
        <p:sp>
          <p:nvSpPr>
            <p:cNvPr id="4" name="Rounded Rectangle 3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💬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 </a:t>
              </a:r>
              <a:r>
                <a:rPr lang="en-US" sz="2500">
                  <a:latin typeface="Readex Pro" charset="0"/>
                  <a:cs typeface="Readex Pro" charset="0"/>
                </a:rPr>
                <a:t>Câu hỏi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người dùng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258945" y="1612900"/>
            <a:ext cx="3051810" cy="1336040"/>
            <a:chOff x="1662" y="3132"/>
            <a:chExt cx="3805" cy="1474"/>
          </a:xfrm>
        </p:grpSpPr>
        <p:sp>
          <p:nvSpPr>
            <p:cNvPr id="8" name="Rounded Rectangle 7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731" y="3261"/>
              <a:ext cx="3491" cy="1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🔍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</a:t>
              </a:r>
              <a:r>
                <a:rPr lang="en-US" sz="2500">
                  <a:latin typeface="Readex Pro" charset="0"/>
                  <a:cs typeface="Readex Pro" charset="0"/>
                </a:rPr>
                <a:t>Retriever</a:t>
              </a:r>
              <a:endParaRPr lang="en-US" sz="2500">
                <a:latin typeface="Readex Pro" charset="0"/>
                <a:cs typeface="Readex Pro" charset="0"/>
              </a:endParaRPr>
            </a:p>
            <a:p>
              <a:pPr algn="ctr"/>
              <a:r>
                <a:rPr lang="en-US" sz="2500">
                  <a:latin typeface="Readex Pro" charset="0"/>
                  <a:cs typeface="Readex Pro" charset="0"/>
                </a:rPr>
                <a:t>(ChromaDB + BM25)</a:t>
              </a:r>
              <a:endParaRPr lang="en-US" sz="2500">
                <a:latin typeface="Readex Pro" charset="0"/>
                <a:cs typeface="Readex Pro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94775" y="1826260"/>
            <a:ext cx="2995930" cy="935990"/>
            <a:chOff x="1662" y="3132"/>
            <a:chExt cx="3804" cy="1474"/>
          </a:xfrm>
        </p:grpSpPr>
        <p:sp>
          <p:nvSpPr>
            <p:cNvPr id="11" name="Rounded Rectangle 10"/>
            <p:cNvSpPr/>
            <p:nvPr/>
          </p:nvSpPr>
          <p:spPr>
            <a:xfrm>
              <a:off x="1662" y="3132"/>
              <a:ext cx="3805" cy="1474"/>
            </a:xfrm>
            <a:prstGeom prst="roundRect">
              <a:avLst/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809" y="3229"/>
              <a:ext cx="3413" cy="12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500">
                  <a:latin typeface="Readex Pro" charset="0"/>
                  <a:cs typeface="Readex Pro" charset="0"/>
                </a:rPr>
                <a:t>🖥</a:t>
              </a:r>
              <a:r>
                <a:rPr lang="en-US" altLang="zh-CN" sz="2500">
                  <a:latin typeface="Readex Pro" charset="0"/>
                  <a:cs typeface="Readex Pro" charset="0"/>
                </a:rPr>
                <a:t>  Sinh câu trả lời và hiển thị</a:t>
              </a:r>
              <a:endParaRPr lang="en-US" altLang="zh-CN" sz="2500">
                <a:latin typeface="Readex Pro" charset="0"/>
                <a:cs typeface="Readex Pro" charset="0"/>
              </a:endParaRPr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2639695" y="2402205"/>
            <a:ext cx="16363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10755" y="2280920"/>
            <a:ext cx="1684020" cy="133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551180" y="3932555"/>
            <a:ext cx="8392160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Ghép câu hỏi + ngữ cảnh =&gt; Tạo PromptTemplate</a:t>
            </a:r>
            <a:endParaRPr lang="en-US" sz="2500">
              <a:latin typeface="Readex Pro" charset="0"/>
              <a:cs typeface="Readex Pro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Gửi đến Gemini 2.5 Pro API</a:t>
            </a:r>
            <a:endParaRPr lang="en-US" sz="2500">
              <a:latin typeface="Readex Pro" charset="0"/>
              <a:cs typeface="Readex Pro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500">
                <a:latin typeface="Readex Pro" charset="0"/>
                <a:cs typeface="Readex Pro" charset="0"/>
              </a:rPr>
              <a:t>Trả kết quả về bên frontend</a:t>
            </a:r>
            <a:endParaRPr lang="en-US" sz="2500">
              <a:latin typeface="Readex Pro" charset="0"/>
              <a:cs typeface="Readex Pro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644505" y="3068955"/>
            <a:ext cx="0" cy="161290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9102090" y="4662170"/>
            <a:ext cx="15424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"/>
          <p:cNvSpPr txBox="1"/>
          <p:nvPr>
            <p:ph type="ctrTitle"/>
          </p:nvPr>
        </p:nvSpPr>
        <p:spPr>
          <a:xfrm>
            <a:off x="0" y="1916430"/>
            <a:ext cx="12191365" cy="2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</a:pPr>
            <a:r>
              <a:rPr lang="en-US" sz="5500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III.  </a:t>
            </a:r>
            <a:r>
              <a:rPr lang="en-US" sz="5500">
                <a:solidFill>
                  <a:srgbClr val="0070C0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KẾT QUẢ ĐẠT ĐƯỢC</a:t>
            </a:r>
            <a:endParaRPr sz="4445">
              <a:latin typeface="Readex Pro"/>
              <a:ea typeface="Readex Pro"/>
              <a:cs typeface="Readex Pro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KẾT QUẢ ĐẠT ĐƯỢC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124585"/>
            <a:ext cx="11781790" cy="5052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914400" lvl="1" indent="-457200">
              <a:lnSpc>
                <a:spcPct val="210000"/>
              </a:lnSpc>
              <a:buFont typeface="Wingdings" panose="05000000000000000000" charset="0"/>
              <a:buChar char="ü"/>
            </a:pPr>
            <a:r>
              <a:rPr lang="en-US" sz="2700">
                <a:latin typeface="Readex Pro" charset="0"/>
                <a:cs typeface="Readex Pro" charset="0"/>
              </a:rPr>
              <a:t>Giao diện web đơn giản, dễ sử dụng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210000"/>
              </a:lnSpc>
              <a:buFont typeface="Wingdings" panose="05000000000000000000" charset="0"/>
              <a:buChar char="ü"/>
            </a:pPr>
            <a:r>
              <a:rPr lang="en-US" sz="2700">
                <a:latin typeface="Readex Pro" charset="0"/>
                <a:cs typeface="Readex Pro" charset="0"/>
              </a:rPr>
              <a:t>Nhập câu hỏi -&gt; Hệ thống trả lời ngay</a:t>
            </a:r>
            <a:endParaRPr lang="en-US" sz="27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ĐÁNH GIÁ HỆ THỐNG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124585"/>
            <a:ext cx="11781790" cy="5052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Sử dụng framework RAGAS để đánh giá</a:t>
            </a:r>
            <a:endParaRPr lang="en-US" sz="26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Dữ liệu đánh giá: 35 cặp câu hỏi (questions) - câu trả lời tham chiếu (ground_truth)</a:t>
            </a:r>
            <a:endParaRPr lang="en-US" sz="26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Các câu hỏi được chia thành ba loại chính:</a:t>
            </a:r>
            <a:endParaRPr lang="en-US" sz="2600">
              <a:latin typeface="Readex Pro" charset="0"/>
              <a:cs typeface="Readex Pro" charset="0"/>
            </a:endParaRPr>
          </a:p>
          <a:p>
            <a:pPr marL="1371600" lvl="2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L1: Câu hỏi tra cứu siêu dữ liệu</a:t>
            </a:r>
            <a:endParaRPr lang="en-US" sz="2600">
              <a:latin typeface="Readex Pro" charset="0"/>
              <a:cs typeface="Readex Pro" charset="0"/>
            </a:endParaRPr>
          </a:p>
          <a:p>
            <a:pPr marL="1371600" lvl="2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L2: Câu hỏi trích xuất thông tin trực tiếp</a:t>
            </a:r>
            <a:endParaRPr lang="en-US" sz="2600">
              <a:latin typeface="Readex Pro" charset="0"/>
              <a:cs typeface="Readex Pro" charset="0"/>
            </a:endParaRPr>
          </a:p>
          <a:p>
            <a:pPr marL="1371600" lvl="2" indent="-4572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600">
                <a:latin typeface="Readex Pro" charset="0"/>
                <a:cs typeface="Readex Pro" charset="0"/>
              </a:rPr>
              <a:t>L3: Câu hỏi có điều kiện lọc</a:t>
            </a:r>
            <a:endParaRPr lang="en-US" sz="26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351405" y="1265555"/>
          <a:ext cx="7249795" cy="4347210"/>
        </p:xfrm>
        <a:graphic>
          <a:graphicData uri="http://schemas.openxmlformats.org/drawingml/2006/table">
            <a:tbl>
              <a:tblPr/>
              <a:tblGrid>
                <a:gridCol w="4251960"/>
                <a:gridCol w="2997835"/>
              </a:tblGrid>
              <a:tr h="764540"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2800" b="0" i="0">
                          <a:solidFill>
                            <a:srgbClr val="080808"/>
                          </a:solidFill>
                          <a:latin typeface="Readex Pro" charset="0"/>
                          <a:ea typeface="monospace"/>
                          <a:cs typeface="Readex Pro" charset="0"/>
                        </a:rPr>
                        <a:t>Chỉ số</a:t>
                      </a:r>
                      <a:endParaRPr lang="en-US" altLang="zh-CN" sz="2800" b="0" i="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Readex Pro" charset="0"/>
                          <a:ea typeface="Times New Roman" panose="02020603050405020304"/>
                          <a:cs typeface="Readex Pro" charset="0"/>
                        </a:rPr>
                        <a:t>Điểm số</a:t>
                      </a: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2670"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2800">
                          <a:solidFill>
                            <a:srgbClr val="080808"/>
                          </a:solidFill>
                          <a:latin typeface="Readex Pro" charset="0"/>
                          <a:ea typeface="monospace"/>
                          <a:cs typeface="Readex Pro" charset="0"/>
                        </a:rPr>
                        <a:t>Faithfulness</a:t>
                      </a: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2800">
                          <a:solidFill>
                            <a:srgbClr val="080808"/>
                          </a:solidFill>
                          <a:latin typeface="Readex Pro" charset="0"/>
                          <a:ea typeface="monospace"/>
                          <a:cs typeface="Readex Pro" charset="0"/>
                        </a:rPr>
                        <a:t>Context Precision</a:t>
                      </a: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2800">
                          <a:solidFill>
                            <a:srgbClr val="080808"/>
                          </a:solidFill>
                          <a:latin typeface="Readex Pro" charset="0"/>
                          <a:ea typeface="monospace"/>
                          <a:cs typeface="Readex Pro" charset="0"/>
                        </a:rPr>
                        <a:t>Context Recall</a:t>
                      </a:r>
                      <a:endParaRPr lang="en-US" altLang="zh-CN" sz="2800">
                        <a:solidFill>
                          <a:srgbClr val="080808"/>
                        </a:solidFill>
                        <a:latin typeface="Readex Pro" charset="0"/>
                        <a:ea typeface="monospace"/>
                        <a:cs typeface="Readex Pro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Readex Pro" charset="0"/>
                          <a:ea typeface="Times New Roman" panose="02020603050405020304"/>
                          <a:cs typeface="Readex Pro" charset="0"/>
                        </a:rPr>
                        <a:t>0.9833</a:t>
                      </a: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Readex Pro" charset="0"/>
                          <a:ea typeface="Times New Roman" panose="02020603050405020304"/>
                          <a:cs typeface="Readex Pro" charset="0"/>
                        </a:rPr>
                        <a:t>1.0000</a:t>
                      </a: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Readex Pro" charset="0"/>
                          <a:ea typeface="Times New Roman" panose="02020603050405020304"/>
                          <a:cs typeface="Readex Pro" charset="0"/>
                        </a:rPr>
                        <a:t>0.9545</a:t>
                      </a: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2800">
                        <a:latin typeface="Readex Pro" charset="0"/>
                        <a:ea typeface="Times New Roman" panose="02020603050405020304"/>
                        <a:cs typeface="Readex Pro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ĐÁNH GIÁ HỆ THỐNG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"/>
          <p:cNvSpPr txBox="1"/>
          <p:nvPr>
            <p:ph type="ctrTitle"/>
          </p:nvPr>
        </p:nvSpPr>
        <p:spPr>
          <a:xfrm>
            <a:off x="0" y="1916430"/>
            <a:ext cx="12191365" cy="2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</a:pPr>
            <a:r>
              <a:rPr lang="en-US" sz="5500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IV.  </a:t>
            </a:r>
            <a:r>
              <a:rPr lang="en-US" sz="5500">
                <a:solidFill>
                  <a:srgbClr val="0070C0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KẾT LUẬN </a:t>
            </a:r>
            <a:r>
              <a:rPr lang="en-US" sz="5500">
                <a:solidFill>
                  <a:srgbClr val="0070C0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VÀ </a:t>
            </a:r>
            <a:br>
              <a:rPr lang="en-US" sz="5500">
                <a:solidFill>
                  <a:srgbClr val="0070C0"/>
                </a:solidFill>
                <a:latin typeface="K2D" panose="00000500000000000000" charset="0"/>
                <a:cs typeface="K2D" panose="00000500000000000000" charset="0"/>
                <a:sym typeface="+mn-ea"/>
              </a:rPr>
            </a:br>
            <a:r>
              <a:rPr lang="en-US" sz="5500">
                <a:solidFill>
                  <a:srgbClr val="0070C0"/>
                </a:solidFill>
                <a:latin typeface="K2D" panose="00000500000000000000" charset="0"/>
                <a:cs typeface="K2D" panose="00000500000000000000" charset="0"/>
                <a:sym typeface="+mn-ea"/>
              </a:rPr>
              <a:t>HƯỚNG PHÁT TRIỂN</a:t>
            </a:r>
            <a:r>
              <a:rPr lang="en-US" sz="4445">
                <a:latin typeface="Readex Pro"/>
                <a:ea typeface="Readex Pro"/>
                <a:cs typeface="Readex Pro"/>
                <a:sym typeface="Readex Pro"/>
              </a:rPr>
              <a:t> </a:t>
            </a:r>
            <a:endParaRPr sz="4445">
              <a:latin typeface="Readex Pro"/>
              <a:ea typeface="Readex Pro"/>
              <a:cs typeface="Readex Pro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KẾT LUẬN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124585"/>
            <a:ext cx="11781790" cy="5052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914400" lvl="1" indent="-457200">
              <a:lnSpc>
                <a:spcPct val="180000"/>
              </a:lnSpc>
              <a:buFont typeface="Wingdings" panose="05000000000000000000" charset="0"/>
              <a:buChar char="ü"/>
            </a:pPr>
            <a:r>
              <a:rPr lang="en-US" sz="2700">
                <a:latin typeface="Readex Pro" charset="0"/>
                <a:cs typeface="Readex Pro" charset="0"/>
              </a:rPr>
              <a:t>Xây dựng thành công hệ thống hỏi-đáp văn bản quy phạm pháp luật loại “Chỉ thị”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Wingdings" panose="05000000000000000000" charset="0"/>
              <a:buChar char="ü"/>
            </a:pPr>
            <a:r>
              <a:rPr lang="en-US" sz="2700">
                <a:latin typeface="Readex Pro" charset="0"/>
                <a:cs typeface="Readex Pro" charset="0"/>
              </a:rPr>
              <a:t>Hệ thống minh chứng được hiệu quả: Chính xác, minh bạch, thân thiện với người dùng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Wingdings" panose="05000000000000000000" charset="0"/>
              <a:buChar char="ü"/>
            </a:pPr>
            <a:r>
              <a:rPr lang="en-US" sz="2700">
                <a:latin typeface="Readex Pro" charset="0"/>
                <a:cs typeface="Readex Pro" charset="0"/>
              </a:rPr>
              <a:t>RAG + LLM là giải pháp phù hợp cho bài toán hỏi-đáp pháp luật</a:t>
            </a:r>
            <a:endParaRPr lang="en-US" sz="27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HẠN CHẾ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124585"/>
            <a:ext cx="11781790" cy="5052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×"/>
            </a:pPr>
            <a:r>
              <a:rPr lang="en-US" sz="2700">
                <a:latin typeface="Readex Pro" charset="0"/>
                <a:cs typeface="Readex Pro" charset="0"/>
              </a:rPr>
              <a:t>Phụ thuộc vào API (cần Internet)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×"/>
            </a:pPr>
            <a:r>
              <a:rPr lang="en-US" sz="2700">
                <a:latin typeface="Readex Pro" charset="0"/>
                <a:cs typeface="Readex Pro" charset="0"/>
              </a:rPr>
              <a:t>Chỉ thử nghiệm trên dữ liệu loại “Chỉ thị”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×"/>
            </a:pPr>
            <a:r>
              <a:rPr lang="en-US" sz="2700">
                <a:latin typeface="Readex Pro" charset="0"/>
                <a:cs typeface="Readex Pro" charset="0"/>
              </a:rPr>
              <a:t>Chưa xử lý PDF dạng scan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180000"/>
              </a:lnSpc>
              <a:buFont typeface="Arial" panose="020B0604020202020204" pitchFamily="34" charset="0"/>
              <a:buChar char="×"/>
            </a:pPr>
            <a:r>
              <a:rPr lang="en-US" sz="2700">
                <a:latin typeface="Readex Pro" charset="0"/>
                <a:cs typeface="Readex Pro" charset="0"/>
              </a:rPr>
              <a:t>Chưa có đánh giá người dùng thực tế</a:t>
            </a:r>
            <a:endParaRPr lang="en-US" sz="27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3f212c49e7_2_51"/>
          <p:cNvSpPr txBox="1"/>
          <p:nvPr>
            <p:ph type="title"/>
          </p:nvPr>
        </p:nvSpPr>
        <p:spPr>
          <a:xfrm>
            <a:off x="838200" y="1520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HƯỚNG PHÁT TRIỂN</a:t>
            </a:r>
            <a:endParaRPr lang="en-US">
              <a:latin typeface="K2D" panose="00000500000000000000" charset="0"/>
              <a:ea typeface="Readex Pro"/>
              <a:cs typeface="K2D" panose="00000500000000000000" charset="0"/>
              <a:sym typeface="Readex Pro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124585"/>
            <a:ext cx="11781790" cy="429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914400" lvl="1" indent="-45720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en-US" sz="2700">
                <a:latin typeface="Readex Pro" charset="0"/>
                <a:cs typeface="Readex Pro" charset="0"/>
              </a:rPr>
              <a:t>Mở rộng đa dạng hóa kho kiến thức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en-US" sz="2700">
                <a:latin typeface="Readex Pro" charset="0"/>
                <a:cs typeface="Readex Pro" charset="0"/>
              </a:rPr>
              <a:t>Cải tiến module truy xuất thông tin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en-US" sz="2700">
                <a:latin typeface="Readex Pro" charset="0"/>
                <a:cs typeface="Readex Pro" charset="0"/>
              </a:rPr>
              <a:t>Thử nghiệm nhiều mô hình sinh khác</a:t>
            </a:r>
            <a:endParaRPr lang="en-US" sz="2700">
              <a:latin typeface="Readex Pro" charset="0"/>
              <a:cs typeface="Readex Pro" charset="0"/>
            </a:endParaRPr>
          </a:p>
          <a:p>
            <a:pPr marL="914400" lvl="1" indent="-45720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en-US" sz="2700">
                <a:latin typeface="Readex Pro" charset="0"/>
                <a:cs typeface="Readex Pro" charset="0"/>
              </a:rPr>
              <a:t>Bổ sung các tính năng nâng cao</a:t>
            </a:r>
            <a:endParaRPr lang="en-US" sz="2700">
              <a:latin typeface="Readex Pro" charset="0"/>
              <a:cs typeface="Readex Pro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"/>
          <p:cNvSpPr txBox="1"/>
          <p:nvPr>
            <p:ph type="ctrTitle"/>
          </p:nvPr>
        </p:nvSpPr>
        <p:spPr>
          <a:xfrm>
            <a:off x="62230" y="1916430"/>
            <a:ext cx="12007215" cy="2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K2D" panose="00000500000000000000"/>
              <a:buNone/>
            </a:pPr>
            <a:r>
              <a:rPr lang="en-US" sz="4445">
                <a:latin typeface="K2D" panose="00000500000000000000" charset="0"/>
                <a:ea typeface="Readex Pro"/>
                <a:cs typeface="K2D" panose="00000500000000000000" charset="0"/>
                <a:sym typeface="Readex Pro"/>
              </a:rPr>
              <a:t>DEMO ỨNG DỤNG</a:t>
            </a:r>
            <a:r>
              <a:rPr lang="en-US" sz="4445">
                <a:latin typeface="Readex Pro"/>
                <a:ea typeface="Readex Pro"/>
                <a:cs typeface="Readex Pro"/>
                <a:sym typeface="Readex Pro"/>
              </a:rPr>
              <a:t> </a:t>
            </a:r>
            <a:endParaRPr sz="4445">
              <a:latin typeface="Readex Pro"/>
              <a:ea typeface="Readex Pro"/>
              <a:cs typeface="Readex Pro"/>
              <a:sym typeface="Readex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7"/>
          <p:cNvSpPr txBox="1"/>
          <p:nvPr>
            <p:ph type="ctrTitle"/>
          </p:nvPr>
        </p:nvSpPr>
        <p:spPr>
          <a:xfrm>
            <a:off x="1487170" y="2620010"/>
            <a:ext cx="10718800" cy="80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K2D" panose="00000500000000000000"/>
              <a:buNone/>
            </a:pPr>
            <a:r>
              <a:rPr lang="en-US" sz="3600"/>
              <a:t>CÁM ƠN THẦY, CÔ VÀ CÁC BẠN ĐÃ LẮNG NGHE!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5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6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7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8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9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0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1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2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3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4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5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6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7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8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19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0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1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2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3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4.xml><?xml version="1.0" encoding="utf-8"?>
<p:tagLst xmlns:p="http://schemas.openxmlformats.org/presentationml/2006/main">
  <p:tag name="KSO_WM_DIAGRAM_VIRTUALLY_FRAME" val="{&quot;height&quot;:319.7378976109825,&quot;left&quot;:37.5,&quot;top&quot;:118.05,&quot;width&quot;:206.05}"/>
</p:tagLst>
</file>

<file path=ppt/tags/tag25.xml><?xml version="1.0" encoding="utf-8"?>
<p:tagLst xmlns:p="http://schemas.openxmlformats.org/presentationml/2006/main">
  <p:tag name="KSO_WM_DIAGRAM_VIRTUALLY_FRAME" val="{&quot;height&quot;:319.7378976109825,&quot;left&quot;:37.5,&quot;top&quot;:118.05,&quot;width&quot;:206.05}"/>
</p:tagLst>
</file>

<file path=ppt/tags/tag26.xml><?xml version="1.0" encoding="utf-8"?>
<p:tagLst xmlns:p="http://schemas.openxmlformats.org/presentationml/2006/main">
  <p:tag name="KSO_WM_DIAGRAM_VIRTUALLY_FRAME" val="{&quot;height&quot;:319.7378976109825,&quot;left&quot;:37.5,&quot;top&quot;:118.05,&quot;width&quot;:206.05}"/>
</p:tagLst>
</file>

<file path=ppt/tags/tag27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8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29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0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1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2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3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4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5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6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7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8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39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0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1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2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3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4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5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6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7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8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49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50.xml><?xml version="1.0" encoding="utf-8"?>
<p:tagLst xmlns:p="http://schemas.openxmlformats.org/presentationml/2006/main">
  <p:tag name="KSO_WM_DIAGRAM_VIRTUALLY_FRAME" val="{&quot;height&quot;:333.0878976109825,&quot;left&quot;:13.15,&quot;top&quot;:104.7,&quot;width&quot;:867.15}"/>
</p:tagLst>
</file>

<file path=ppt/tags/tag51.xml><?xml version="1.0" encoding="utf-8"?>
<p:tagLst xmlns:p="http://schemas.openxmlformats.org/presentationml/2006/main">
  <p:tag name="TABLE_ENDDRAG_ORIGIN_RECT" val="570*332"/>
  <p:tag name="TABLE_ENDDRAG_RECT" val="105*111*570*33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5341</Words>
  <Application>WPS Presentation</Application>
  <PresentationFormat/>
  <Paragraphs>289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SimSun</vt:lpstr>
      <vt:lpstr>Wingdings</vt:lpstr>
      <vt:lpstr>Arial</vt:lpstr>
      <vt:lpstr>K2D</vt:lpstr>
      <vt:lpstr>Readex Pro</vt:lpstr>
      <vt:lpstr>Calibri</vt:lpstr>
      <vt:lpstr>Barlow</vt:lpstr>
      <vt:lpstr>Segoe Print</vt:lpstr>
      <vt:lpstr>K2D</vt:lpstr>
      <vt:lpstr>Readex Pro</vt:lpstr>
      <vt:lpstr>Microsoft YaHei</vt:lpstr>
      <vt:lpstr>Arial Unicode MS</vt:lpstr>
      <vt:lpstr>Wingdings</vt:lpstr>
      <vt:lpstr>monospace</vt:lpstr>
      <vt:lpstr>Times New Roman</vt:lpstr>
      <vt:lpstr>Office Theme</vt:lpstr>
      <vt:lpstr>LUẬN VĂN TỐT NGHIỆP NGÀNH KHOA HỌC MÁY TÍNH</vt:lpstr>
      <vt:lpstr>NỘI DUNG CHÍNH</vt:lpstr>
      <vt:lpstr>I. GIỚI THIỆU ĐỀ TÀI </vt:lpstr>
      <vt:lpstr>1. Đặt vấn đề</vt:lpstr>
      <vt:lpstr>1. Đặt vấn đề</vt:lpstr>
      <vt:lpstr>2. Mục tiêu đề tài</vt:lpstr>
      <vt:lpstr>3. Mô tả bài toán</vt:lpstr>
      <vt:lpstr>3. Mô tả bài toán</vt:lpstr>
      <vt:lpstr>3. Mô tả bài toán</vt:lpstr>
      <vt:lpstr>3. Mô tả bài toán</vt:lpstr>
      <vt:lpstr>II. GIẢI PHÁP CHO BÀI TOÁN</vt:lpstr>
      <vt:lpstr>1. Kỹ thuật RAG (Retrieval-Augmented Generation)</vt:lpstr>
      <vt:lpstr>1. Kỹ thuật RAG (Retrieval-Augmented Generation)</vt:lpstr>
      <vt:lpstr>(*) Quy trình của hệ thống</vt:lpstr>
      <vt:lpstr>2. Thu thập dữ liệu</vt:lpstr>
      <vt:lpstr>2. Thu thập dữ liệu</vt:lpstr>
      <vt:lpstr>3. Tiền xử lý dữ liệu</vt:lpstr>
      <vt:lpstr>4. Xử lý truy vấn và sinh câu trả lời</vt:lpstr>
      <vt:lpstr>4. Xử lý truy vấn và sinh câu trả lời</vt:lpstr>
      <vt:lpstr>4. Xử lý truy vấn và sinh câu trả lời</vt:lpstr>
      <vt:lpstr>III.  KẾT QUẢ ĐẠT ĐƯỢC</vt:lpstr>
      <vt:lpstr>KẾT QUẢ ĐẠT ĐƯỢC</vt:lpstr>
      <vt:lpstr>ĐÁNH GIÁ HỆ THỐNG</vt:lpstr>
      <vt:lpstr>ĐÁNH GIÁ HỆ THỐNG</vt:lpstr>
      <vt:lpstr>IV.  KẾT LUẬN VÀ  HƯỚNG PHÁT TRIỂN </vt:lpstr>
      <vt:lpstr>KẾT LUẬN</vt:lpstr>
      <vt:lpstr>HẠN CHẾ</vt:lpstr>
      <vt:lpstr>HƯỚNG PHÁT TRIỂN</vt:lpstr>
      <vt:lpstr>DEMO ỨNG DỤNG </vt:lpstr>
      <vt:lpstr>CÁM ƠN THẦY, CÔ VÀ CÁC BẠN ĐÃ LẮNG NGHE!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GIẤU TIN TRONG ẢNH</dc:title>
  <dc:creator>CTU Media</dc:creator>
  <cp:lastModifiedBy>Le Tuan Dat B2113328</cp:lastModifiedBy>
  <cp:revision>967</cp:revision>
  <dcterms:created xsi:type="dcterms:W3CDTF">2025-03-25T14:54:00Z</dcterms:created>
  <dcterms:modified xsi:type="dcterms:W3CDTF">2025-08-30T05:41:11Z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8C610EAB84234647B0AB6CE27164233F_12</vt:lpwstr>
  </property>
  <property fmtid="{D5CDD505-2E9C-101B-9397-08002B2CF9AE}" pid="3" name="KSOProductBuildVer">
    <vt:lpwstr>1033-12.2.0.21931</vt:lpwstr>
  </property>
</Properties>
</file>